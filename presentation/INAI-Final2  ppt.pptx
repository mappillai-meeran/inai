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63" r:id="rId5"/>
    <p:sldId id="264" r:id="rId6"/>
    <p:sldId id="265" r:id="rId7"/>
    <p:sldId id="259" r:id="rId8"/>
    <p:sldId id="260" r:id="rId9"/>
    <p:sldId id="266" r:id="rId10"/>
    <p:sldId id="267" r:id="rId11"/>
    <p:sldId id="268" r:id="rId12"/>
    <p:sldId id="269" r:id="rId13"/>
    <p:sldId id="270" r:id="rId14"/>
    <p:sldId id="271" r:id="rId15"/>
    <p:sldId id="261" r:id="rId16"/>
    <p:sldId id="272" r:id="rId17"/>
    <p:sldId id="273" r:id="rId18"/>
    <p:sldId id="262" r:id="rId1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9D8ABD-824D-4FEF-87A3-EA1D7639D384}" v="9" dt="2026-06-09T04:44:14.7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64" d="100"/>
          <a:sy n="64" d="100"/>
        </p:scale>
        <p:origin x="13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ppillaiMeeran A" userId="df1ef35d0eadfa24" providerId="LiveId" clId="{88D46C5A-2633-4481-8A4B-5A11211D5E64}"/>
    <pc:docChg chg="undo custSel addSld delSld modSld">
      <pc:chgData name="MappillaiMeeran A" userId="df1ef35d0eadfa24" providerId="LiveId" clId="{88D46C5A-2633-4481-8A4B-5A11211D5E64}" dt="2026-06-09T04:44:20.073" v="291" actId="20577"/>
      <pc:docMkLst>
        <pc:docMk/>
      </pc:docMkLst>
      <pc:sldChg chg="modSp mod">
        <pc:chgData name="MappillaiMeeran A" userId="df1ef35d0eadfa24" providerId="LiveId" clId="{88D46C5A-2633-4481-8A4B-5A11211D5E64}" dt="2026-06-09T04:20:15.292" v="7" actId="1038"/>
        <pc:sldMkLst>
          <pc:docMk/>
          <pc:sldMk cId="0" sldId="256"/>
        </pc:sldMkLst>
        <pc:spChg chg="mod">
          <ac:chgData name="MappillaiMeeran A" userId="df1ef35d0eadfa24" providerId="LiveId" clId="{88D46C5A-2633-4481-8A4B-5A11211D5E64}" dt="2026-06-09T04:20:06.449" v="5" actId="1035"/>
          <ac:spMkLst>
            <pc:docMk/>
            <pc:sldMk cId="0" sldId="256"/>
            <ac:spMk id="2" creationId="{00000000-0000-0000-0000-000000000000}"/>
          </ac:spMkLst>
        </pc:spChg>
        <pc:spChg chg="mod">
          <ac:chgData name="MappillaiMeeran A" userId="df1ef35d0eadfa24" providerId="LiveId" clId="{88D46C5A-2633-4481-8A4B-5A11211D5E64}" dt="2026-06-09T04:20:15.292" v="7" actId="1038"/>
          <ac:spMkLst>
            <pc:docMk/>
            <pc:sldMk cId="0" sldId="256"/>
            <ac:spMk id="18" creationId="{00000000-0000-0000-0000-000000000000}"/>
          </ac:spMkLst>
        </pc:spChg>
      </pc:sldChg>
      <pc:sldChg chg="addSp modSp new mod">
        <pc:chgData name="MappillaiMeeran A" userId="df1ef35d0eadfa24" providerId="LiveId" clId="{88D46C5A-2633-4481-8A4B-5A11211D5E64}" dt="2026-06-09T04:41:02.519" v="84" actId="1076"/>
        <pc:sldMkLst>
          <pc:docMk/>
          <pc:sldMk cId="679483708" sldId="263"/>
        </pc:sldMkLst>
        <pc:spChg chg="add mod">
          <ac:chgData name="MappillaiMeeran A" userId="df1ef35d0eadfa24" providerId="LiveId" clId="{88D46C5A-2633-4481-8A4B-5A11211D5E64}" dt="2026-06-09T04:41:02.519" v="84" actId="1076"/>
          <ac:spMkLst>
            <pc:docMk/>
            <pc:sldMk cId="679483708" sldId="263"/>
            <ac:spMk id="4" creationId="{74966692-39D4-AD8E-02DF-992E4B0BF1A6}"/>
          </ac:spMkLst>
        </pc:spChg>
        <pc:picChg chg="add">
          <ac:chgData name="MappillaiMeeran A" userId="df1ef35d0eadfa24" providerId="LiveId" clId="{88D46C5A-2633-4481-8A4B-5A11211D5E64}" dt="2026-06-09T04:21:42.048" v="9" actId="22"/>
          <ac:picMkLst>
            <pc:docMk/>
            <pc:sldMk cId="679483708" sldId="263"/>
            <ac:picMk id="3" creationId="{5328414F-440C-3808-0A70-34AA9819DD67}"/>
          </ac:picMkLst>
        </pc:picChg>
      </pc:sldChg>
      <pc:sldChg chg="addSp delSp modSp new mod">
        <pc:chgData name="MappillaiMeeran A" userId="df1ef35d0eadfa24" providerId="LiveId" clId="{88D46C5A-2633-4481-8A4B-5A11211D5E64}" dt="2026-06-09T04:42:13.744" v="129" actId="20577"/>
        <pc:sldMkLst>
          <pc:docMk/>
          <pc:sldMk cId="2888120583" sldId="264"/>
        </pc:sldMkLst>
        <pc:spChg chg="add mod">
          <ac:chgData name="MappillaiMeeran A" userId="df1ef35d0eadfa24" providerId="LiveId" clId="{88D46C5A-2633-4481-8A4B-5A11211D5E64}" dt="2026-06-09T04:42:13.744" v="129" actId="20577"/>
          <ac:spMkLst>
            <pc:docMk/>
            <pc:sldMk cId="2888120583" sldId="264"/>
            <ac:spMk id="6" creationId="{06BB50B1-B954-CDC9-45B7-E477A1C5DEAA}"/>
          </ac:spMkLst>
        </pc:spChg>
        <pc:picChg chg="add">
          <ac:chgData name="MappillaiMeeran A" userId="df1ef35d0eadfa24" providerId="LiveId" clId="{88D46C5A-2633-4481-8A4B-5A11211D5E64}" dt="2026-06-09T04:30:18.718" v="11" actId="22"/>
          <ac:picMkLst>
            <pc:docMk/>
            <pc:sldMk cId="2888120583" sldId="264"/>
            <ac:picMk id="3" creationId="{07ABBBC5-1D16-1806-D241-3B8EA32B34BD}"/>
          </ac:picMkLst>
        </pc:picChg>
        <pc:picChg chg="add del">
          <ac:chgData name="MappillaiMeeran A" userId="df1ef35d0eadfa24" providerId="LiveId" clId="{88D46C5A-2633-4481-8A4B-5A11211D5E64}" dt="2026-06-09T04:41:16.213" v="86" actId="22"/>
          <ac:picMkLst>
            <pc:docMk/>
            <pc:sldMk cId="2888120583" sldId="264"/>
            <ac:picMk id="5" creationId="{E065EB82-556B-FAAD-D911-729A40162A3F}"/>
          </ac:picMkLst>
        </pc:picChg>
      </pc:sldChg>
      <pc:sldChg chg="addSp new mod">
        <pc:chgData name="MappillaiMeeran A" userId="df1ef35d0eadfa24" providerId="LiveId" clId="{88D46C5A-2633-4481-8A4B-5A11211D5E64}" dt="2026-06-09T04:32:30.472" v="13" actId="22"/>
        <pc:sldMkLst>
          <pc:docMk/>
          <pc:sldMk cId="658904239" sldId="265"/>
        </pc:sldMkLst>
        <pc:picChg chg="add">
          <ac:chgData name="MappillaiMeeran A" userId="df1ef35d0eadfa24" providerId="LiveId" clId="{88D46C5A-2633-4481-8A4B-5A11211D5E64}" dt="2026-06-09T04:32:30.472" v="13" actId="22"/>
          <ac:picMkLst>
            <pc:docMk/>
            <pc:sldMk cId="658904239" sldId="265"/>
            <ac:picMk id="3" creationId="{9EA0AF62-3A60-D5D5-5AFE-C271A21C70D1}"/>
          </ac:picMkLst>
        </pc:picChg>
      </pc:sldChg>
      <pc:sldChg chg="addSp modSp new mod">
        <pc:chgData name="MappillaiMeeran A" userId="df1ef35d0eadfa24" providerId="LiveId" clId="{88D46C5A-2633-4481-8A4B-5A11211D5E64}" dt="2026-06-09T04:42:34.090" v="153" actId="20577"/>
        <pc:sldMkLst>
          <pc:docMk/>
          <pc:sldMk cId="3237352691" sldId="266"/>
        </pc:sldMkLst>
        <pc:spChg chg="add mod">
          <ac:chgData name="MappillaiMeeran A" userId="df1ef35d0eadfa24" providerId="LiveId" clId="{88D46C5A-2633-4481-8A4B-5A11211D5E64}" dt="2026-06-09T04:42:34.090" v="153" actId="20577"/>
          <ac:spMkLst>
            <pc:docMk/>
            <pc:sldMk cId="3237352691" sldId="266"/>
            <ac:spMk id="4" creationId="{A6690184-4702-D487-275E-3923EFA7A5C8}"/>
          </ac:spMkLst>
        </pc:spChg>
        <pc:picChg chg="add">
          <ac:chgData name="MappillaiMeeran A" userId="df1ef35d0eadfa24" providerId="LiveId" clId="{88D46C5A-2633-4481-8A4B-5A11211D5E64}" dt="2026-06-09T04:35:22.585" v="15" actId="22"/>
          <ac:picMkLst>
            <pc:docMk/>
            <pc:sldMk cId="3237352691" sldId="266"/>
            <ac:picMk id="3" creationId="{4F307103-DA19-0183-DE67-7536F27383D1}"/>
          </ac:picMkLst>
        </pc:picChg>
      </pc:sldChg>
      <pc:sldChg chg="addSp modSp new mod">
        <pc:chgData name="MappillaiMeeran A" userId="df1ef35d0eadfa24" providerId="LiveId" clId="{88D46C5A-2633-4481-8A4B-5A11211D5E64}" dt="2026-06-09T04:42:50.580" v="178" actId="20577"/>
        <pc:sldMkLst>
          <pc:docMk/>
          <pc:sldMk cId="568684815" sldId="267"/>
        </pc:sldMkLst>
        <pc:spChg chg="add mod">
          <ac:chgData name="MappillaiMeeran A" userId="df1ef35d0eadfa24" providerId="LiveId" clId="{88D46C5A-2633-4481-8A4B-5A11211D5E64}" dt="2026-06-09T04:42:50.580" v="178" actId="20577"/>
          <ac:spMkLst>
            <pc:docMk/>
            <pc:sldMk cId="568684815" sldId="267"/>
            <ac:spMk id="4" creationId="{D9C588B0-5B6E-8316-CAD3-55074F6CF6C6}"/>
          </ac:spMkLst>
        </pc:spChg>
        <pc:picChg chg="add">
          <ac:chgData name="MappillaiMeeran A" userId="df1ef35d0eadfa24" providerId="LiveId" clId="{88D46C5A-2633-4481-8A4B-5A11211D5E64}" dt="2026-06-09T04:35:41.518" v="17" actId="22"/>
          <ac:picMkLst>
            <pc:docMk/>
            <pc:sldMk cId="568684815" sldId="267"/>
            <ac:picMk id="3" creationId="{5779F409-FC48-4904-DAC7-5DC698E4F28E}"/>
          </ac:picMkLst>
        </pc:picChg>
      </pc:sldChg>
      <pc:sldChg chg="addSp modSp new mod">
        <pc:chgData name="MappillaiMeeran A" userId="df1ef35d0eadfa24" providerId="LiveId" clId="{88D46C5A-2633-4481-8A4B-5A11211D5E64}" dt="2026-06-09T04:43:13.372" v="208" actId="20577"/>
        <pc:sldMkLst>
          <pc:docMk/>
          <pc:sldMk cId="3881420847" sldId="268"/>
        </pc:sldMkLst>
        <pc:spChg chg="add mod">
          <ac:chgData name="MappillaiMeeran A" userId="df1ef35d0eadfa24" providerId="LiveId" clId="{88D46C5A-2633-4481-8A4B-5A11211D5E64}" dt="2026-06-09T04:43:13.372" v="208" actId="20577"/>
          <ac:spMkLst>
            <pc:docMk/>
            <pc:sldMk cId="3881420847" sldId="268"/>
            <ac:spMk id="4" creationId="{49F239DA-DEB3-E57B-DB58-AE65C76B5440}"/>
          </ac:spMkLst>
        </pc:spChg>
        <pc:picChg chg="add">
          <ac:chgData name="MappillaiMeeran A" userId="df1ef35d0eadfa24" providerId="LiveId" clId="{88D46C5A-2633-4481-8A4B-5A11211D5E64}" dt="2026-06-09T04:36:00.701" v="19" actId="22"/>
          <ac:picMkLst>
            <pc:docMk/>
            <pc:sldMk cId="3881420847" sldId="268"/>
            <ac:picMk id="3" creationId="{EB92EFE9-A791-B517-0240-D5039EBD4355}"/>
          </ac:picMkLst>
        </pc:picChg>
      </pc:sldChg>
      <pc:sldChg chg="addSp modSp new mod">
        <pc:chgData name="MappillaiMeeran A" userId="df1ef35d0eadfa24" providerId="LiveId" clId="{88D46C5A-2633-4481-8A4B-5A11211D5E64}" dt="2026-06-09T04:43:30.684" v="225" actId="20577"/>
        <pc:sldMkLst>
          <pc:docMk/>
          <pc:sldMk cId="424633901" sldId="269"/>
        </pc:sldMkLst>
        <pc:spChg chg="add mod">
          <ac:chgData name="MappillaiMeeran A" userId="df1ef35d0eadfa24" providerId="LiveId" clId="{88D46C5A-2633-4481-8A4B-5A11211D5E64}" dt="2026-06-09T04:43:30.684" v="225" actId="20577"/>
          <ac:spMkLst>
            <pc:docMk/>
            <pc:sldMk cId="424633901" sldId="269"/>
            <ac:spMk id="4" creationId="{E1C24856-D0EF-22A3-8737-584C62324206}"/>
          </ac:spMkLst>
        </pc:spChg>
        <pc:picChg chg="add">
          <ac:chgData name="MappillaiMeeran A" userId="df1ef35d0eadfa24" providerId="LiveId" clId="{88D46C5A-2633-4481-8A4B-5A11211D5E64}" dt="2026-06-09T04:36:31.676" v="23" actId="22"/>
          <ac:picMkLst>
            <pc:docMk/>
            <pc:sldMk cId="424633901" sldId="269"/>
            <ac:picMk id="3" creationId="{289C7794-130A-EA29-883F-CFDFE52B3C0E}"/>
          </ac:picMkLst>
        </pc:picChg>
      </pc:sldChg>
      <pc:sldChg chg="add del">
        <pc:chgData name="MappillaiMeeran A" userId="df1ef35d0eadfa24" providerId="LiveId" clId="{88D46C5A-2633-4481-8A4B-5A11211D5E64}" dt="2026-06-09T04:36:26.777" v="21" actId="47"/>
        <pc:sldMkLst>
          <pc:docMk/>
          <pc:sldMk cId="1178505588" sldId="269"/>
        </pc:sldMkLst>
      </pc:sldChg>
      <pc:sldChg chg="addSp modSp new mod">
        <pc:chgData name="MappillaiMeeran A" userId="df1ef35d0eadfa24" providerId="LiveId" clId="{88D46C5A-2633-4481-8A4B-5A11211D5E64}" dt="2026-06-09T04:43:43.193" v="250" actId="20577"/>
        <pc:sldMkLst>
          <pc:docMk/>
          <pc:sldMk cId="2082463116" sldId="270"/>
        </pc:sldMkLst>
        <pc:spChg chg="add mod">
          <ac:chgData name="MappillaiMeeran A" userId="df1ef35d0eadfa24" providerId="LiveId" clId="{88D46C5A-2633-4481-8A4B-5A11211D5E64}" dt="2026-06-09T04:43:43.193" v="250" actId="20577"/>
          <ac:spMkLst>
            <pc:docMk/>
            <pc:sldMk cId="2082463116" sldId="270"/>
            <ac:spMk id="4" creationId="{1B0F6AAA-95E7-0F01-CAB9-99A07AC94075}"/>
          </ac:spMkLst>
        </pc:spChg>
        <pc:picChg chg="add">
          <ac:chgData name="MappillaiMeeran A" userId="df1ef35d0eadfa24" providerId="LiveId" clId="{88D46C5A-2633-4481-8A4B-5A11211D5E64}" dt="2026-06-09T04:37:08.704" v="25" actId="22"/>
          <ac:picMkLst>
            <pc:docMk/>
            <pc:sldMk cId="2082463116" sldId="270"/>
            <ac:picMk id="3" creationId="{D58D2C7C-0AA3-735B-24D7-575BBD411E6D}"/>
          </ac:picMkLst>
        </pc:picChg>
      </pc:sldChg>
      <pc:sldChg chg="addSp modSp new mod">
        <pc:chgData name="MappillaiMeeran A" userId="df1ef35d0eadfa24" providerId="LiveId" clId="{88D46C5A-2633-4481-8A4B-5A11211D5E64}" dt="2026-06-09T04:44:10.834" v="277" actId="20577"/>
        <pc:sldMkLst>
          <pc:docMk/>
          <pc:sldMk cId="415867888" sldId="271"/>
        </pc:sldMkLst>
        <pc:spChg chg="add mod">
          <ac:chgData name="MappillaiMeeran A" userId="df1ef35d0eadfa24" providerId="LiveId" clId="{88D46C5A-2633-4481-8A4B-5A11211D5E64}" dt="2026-06-09T04:44:10.834" v="277" actId="20577"/>
          <ac:spMkLst>
            <pc:docMk/>
            <pc:sldMk cId="415867888" sldId="271"/>
            <ac:spMk id="4" creationId="{197B9ABD-1B10-1303-11A3-53835C49A27B}"/>
          </ac:spMkLst>
        </pc:spChg>
        <pc:picChg chg="add">
          <ac:chgData name="MappillaiMeeran A" userId="df1ef35d0eadfa24" providerId="LiveId" clId="{88D46C5A-2633-4481-8A4B-5A11211D5E64}" dt="2026-06-09T04:37:27.258" v="27" actId="22"/>
          <ac:picMkLst>
            <pc:docMk/>
            <pc:sldMk cId="415867888" sldId="271"/>
            <ac:picMk id="3" creationId="{C0178563-7848-4C53-5906-3B71220C7458}"/>
          </ac:picMkLst>
        </pc:picChg>
      </pc:sldChg>
      <pc:sldChg chg="addSp modSp new mod">
        <pc:chgData name="MappillaiMeeran A" userId="df1ef35d0eadfa24" providerId="LiveId" clId="{88D46C5A-2633-4481-8A4B-5A11211D5E64}" dt="2026-06-09T04:44:20.073" v="291" actId="20577"/>
        <pc:sldMkLst>
          <pc:docMk/>
          <pc:sldMk cId="2568663455" sldId="272"/>
        </pc:sldMkLst>
        <pc:spChg chg="add mod">
          <ac:chgData name="MappillaiMeeran A" userId="df1ef35d0eadfa24" providerId="LiveId" clId="{88D46C5A-2633-4481-8A4B-5A11211D5E64}" dt="2026-06-09T04:44:20.073" v="291" actId="20577"/>
          <ac:spMkLst>
            <pc:docMk/>
            <pc:sldMk cId="2568663455" sldId="272"/>
            <ac:spMk id="4" creationId="{165F7FDE-2917-FD39-D9B6-8C5131879833}"/>
          </ac:spMkLst>
        </pc:spChg>
        <pc:picChg chg="add">
          <ac:chgData name="MappillaiMeeran A" userId="df1ef35d0eadfa24" providerId="LiveId" clId="{88D46C5A-2633-4481-8A4B-5A11211D5E64}" dt="2026-06-09T04:38:35.422" v="29" actId="22"/>
          <ac:picMkLst>
            <pc:docMk/>
            <pc:sldMk cId="2568663455" sldId="272"/>
            <ac:picMk id="3" creationId="{0DF15303-2573-F2A6-6876-3FD361B2C6A3}"/>
          </ac:picMkLst>
        </pc:picChg>
      </pc:sldChg>
      <pc:sldChg chg="addSp new mod">
        <pc:chgData name="MappillaiMeeran A" userId="df1ef35d0eadfa24" providerId="LiveId" clId="{88D46C5A-2633-4481-8A4B-5A11211D5E64}" dt="2026-06-09T04:38:47.772" v="31" actId="22"/>
        <pc:sldMkLst>
          <pc:docMk/>
          <pc:sldMk cId="1937861019" sldId="273"/>
        </pc:sldMkLst>
        <pc:picChg chg="add">
          <ac:chgData name="MappillaiMeeran A" userId="df1ef35d0eadfa24" providerId="LiveId" clId="{88D46C5A-2633-4481-8A4B-5A11211D5E64}" dt="2026-06-09T04:38:47.772" v="31" actId="22"/>
          <ac:picMkLst>
            <pc:docMk/>
            <pc:sldMk cId="1937861019" sldId="273"/>
            <ac:picMk id="3" creationId="{1879C0E7-1C23-DC20-A5F0-D89AE4D2EC5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>
            <a:spLocks noGrp="1"/>
          </p:cNvSpPr>
          <p:nvPr/>
        </p:nvSpPr>
        <p:spPr>
          <a:xfrm>
            <a:off x="0" y="14514"/>
            <a:ext cx="12192000" cy="6858000"/>
          </a:xfrm>
          <a:prstGeom prst="rect">
            <a:avLst/>
          </a:prstGeom>
          <a:solidFill>
            <a:srgbClr val="102019"/>
          </a:solidFill>
          <a:ln w="0">
            <a:solidFill>
              <a:srgbClr val="10201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7239000" y="-14990"/>
            <a:ext cx="4953000" cy="6858000"/>
          </a:xfrm>
          <a:prstGeom prst="rect">
            <a:avLst/>
          </a:prstGeom>
          <a:solidFill>
            <a:srgbClr val="173B31"/>
          </a:solidFill>
          <a:ln w="0">
            <a:solidFill>
              <a:srgbClr val="173B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571500" y="66675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1">
                <a:solidFill>
                  <a:srgbClr val="9FE3C8"/>
                </a:solidFill>
                <a:latin typeface="Aptos"/>
                <a:ea typeface="Aptos"/>
                <a:cs typeface="Aptos"/>
              </a:defRPr>
            </a:pPr>
            <a:r>
              <a:rPr sz="1400" b="1" dirty="0">
                <a:solidFill>
                  <a:srgbClr val="9FE3C8"/>
                </a:solidFill>
                <a:latin typeface="Aptos"/>
                <a:ea typeface="Aptos"/>
                <a:cs typeface="Aptos"/>
              </a:rPr>
              <a:t>MICRO PROJECT</a:t>
            </a: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571500" y="1219200"/>
            <a:ext cx="6096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5400" b="1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INAI</a:t>
            </a: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590550" y="2114550"/>
            <a:ext cx="61912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F6E7C4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2400" b="1" dirty="0">
                <a:solidFill>
                  <a:srgbClr val="F6E7C4"/>
                </a:solidFill>
                <a:latin typeface="Aptos Display"/>
                <a:ea typeface="Aptos Display"/>
                <a:cs typeface="Aptos Display"/>
              </a:rPr>
              <a:t>A Smart Peer Learning and Knowledge Sharing Platform</a:t>
            </a:r>
            <a:endParaRPr sz="2400" b="1" dirty="0">
              <a:solidFill>
                <a:srgbClr val="F6E7C4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609600" y="3105150"/>
            <a:ext cx="5334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DDE8DE"/>
                </a:solidFill>
                <a:latin typeface="Aptos"/>
                <a:ea typeface="Aptos"/>
                <a:cs typeface="Aptos"/>
              </a:defRPr>
            </a:pPr>
            <a:r>
              <a:rPr sz="1425" b="1" dirty="0" err="1">
                <a:solidFill>
                  <a:srgbClr val="DDE8DE"/>
                </a:solidFill>
                <a:latin typeface="Aptos"/>
                <a:ea typeface="Aptos"/>
                <a:cs typeface="Aptos"/>
              </a:rPr>
              <a:t>Inai</a:t>
            </a:r>
            <a:r>
              <a:rPr sz="1425" b="1" dirty="0">
                <a:solidFill>
                  <a:srgbClr val="DDE8DE"/>
                </a:solidFill>
                <a:latin typeface="Aptos"/>
                <a:ea typeface="Aptos"/>
                <a:cs typeface="Aptos"/>
              </a:rPr>
              <a:t> is an ancient Tamil word meaning connection: connecting the right student to the right knowledge at the right time.</a:t>
            </a: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609600" y="4238625"/>
            <a:ext cx="4762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0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Team: MappillaiMeeran A &amp; Dhinesh S</a:t>
            </a: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09600" y="4638675"/>
            <a:ext cx="4762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College: SMVEC</a:t>
            </a: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609600" y="5038725"/>
            <a:ext cx="4762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Department: MCA</a:t>
            </a: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609600" y="5438775"/>
            <a:ext cx="4762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Date: </a:t>
            </a:r>
            <a:r>
              <a:rPr lang="en-US" sz="140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9 </a:t>
            </a:r>
            <a:r>
              <a:rPr sz="140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June 2026</a:t>
            </a:r>
          </a:p>
        </p:txBody>
      </p:sp>
      <p:sp>
        <p:nvSpPr>
          <p:cNvPr id="11" name="Oval 10"/>
          <p:cNvSpPr>
            <a:spLocks noGrp="1"/>
          </p:cNvSpPr>
          <p:nvPr/>
        </p:nvSpPr>
        <p:spPr>
          <a:xfrm>
            <a:off x="8096250" y="1428750"/>
            <a:ext cx="1219200" cy="1219200"/>
          </a:xfrm>
          <a:prstGeom prst="ellipse">
            <a:avLst/>
          </a:prstGeom>
          <a:solidFill>
            <a:srgbClr val="0F7A5A"/>
          </a:solidFill>
          <a:ln w="19050">
            <a:solidFill>
              <a:srgbClr val="FFFFFF">
                <a:alpha val="33333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8191500" y="1885950"/>
            <a:ext cx="1028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Register</a:t>
            </a:r>
          </a:p>
        </p:txBody>
      </p:sp>
      <p:sp>
        <p:nvSpPr>
          <p:cNvPr id="13" name="Oval 12"/>
          <p:cNvSpPr>
            <a:spLocks noGrp="1"/>
          </p:cNvSpPr>
          <p:nvPr/>
        </p:nvSpPr>
        <p:spPr>
          <a:xfrm>
            <a:off x="9410700" y="2724150"/>
            <a:ext cx="1219200" cy="1219200"/>
          </a:xfrm>
          <a:prstGeom prst="ellipse">
            <a:avLst/>
          </a:prstGeom>
          <a:solidFill>
            <a:srgbClr val="B87916"/>
          </a:solidFill>
          <a:ln w="19050">
            <a:solidFill>
              <a:srgbClr val="FFFFFF">
                <a:alpha val="33333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9505950" y="3181350"/>
            <a:ext cx="1028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Match</a:t>
            </a:r>
          </a:p>
        </p:txBody>
      </p:sp>
      <p:sp>
        <p:nvSpPr>
          <p:cNvPr id="15" name="Oval 14"/>
          <p:cNvSpPr>
            <a:spLocks noGrp="1"/>
          </p:cNvSpPr>
          <p:nvPr/>
        </p:nvSpPr>
        <p:spPr>
          <a:xfrm>
            <a:off x="8096250" y="4019550"/>
            <a:ext cx="1219200" cy="1219200"/>
          </a:xfrm>
          <a:prstGeom prst="ellipse">
            <a:avLst/>
          </a:prstGeom>
          <a:solidFill>
            <a:srgbClr val="0F7A5A"/>
          </a:solidFill>
          <a:ln w="19050">
            <a:solidFill>
              <a:srgbClr val="FFFFFF">
                <a:alpha val="33333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8191500" y="4476750"/>
            <a:ext cx="1028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Connect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99" t="9722" r="15279" b="11945"/>
          <a:stretch>
            <a:fillRect/>
          </a:stretch>
        </p:blipFill>
        <p:spPr>
          <a:xfrm>
            <a:off x="1905312" y="1238250"/>
            <a:ext cx="711335" cy="7715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kicker-2-label"/>
          <p:cNvSpPr>
            <a:spLocks noGrp="1"/>
          </p:cNvSpPr>
          <p:nvPr/>
        </p:nvSpPr>
        <p:spPr>
          <a:xfrm>
            <a:off x="552450" y="323850"/>
            <a:ext cx="1952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050" b="1" dirty="0">
                <a:solidFill>
                  <a:srgbClr val="0F7A5A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2" name="kicker-2-marker"/>
          <p:cNvSpPr>
            <a:spLocks noGrp="1"/>
          </p:cNvSpPr>
          <p:nvPr/>
        </p:nvSpPr>
        <p:spPr>
          <a:xfrm>
            <a:off x="400050" y="390525"/>
            <a:ext cx="76200" cy="76200"/>
          </a:xfrm>
          <a:prstGeom prst="ellipse">
            <a:avLst/>
          </a:prstGeom>
          <a:solidFill>
            <a:srgbClr val="0F7A5A"/>
          </a:solidFill>
          <a:ln w="0">
            <a:solidFill>
              <a:srgbClr val="0F7A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400049" y="590550"/>
            <a:ext cx="9178665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dirty="0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Hostel students have nearby help, but no safe way to discover it.</a:t>
            </a: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400050" y="1181100"/>
            <a:ext cx="113919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0991850" y="63817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Rectangle: Rounded Corners 5"/>
          <p:cNvSpPr>
            <a:spLocks noGrp="1"/>
          </p:cNvSpPr>
          <p:nvPr/>
        </p:nvSpPr>
        <p:spPr>
          <a:xfrm>
            <a:off x="495300" y="1524000"/>
            <a:ext cx="2095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590550" y="161925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200" b="1">
                <a:solidFill>
                  <a:srgbClr val="C4493D"/>
                </a:solidFill>
                <a:latin typeface="Aptos"/>
                <a:ea typeface="Aptos"/>
                <a:cs typeface="Aptos"/>
              </a:defRPr>
            </a:pPr>
            <a:r>
              <a:rPr lang="en-US" sz="1200" b="1" dirty="0">
                <a:solidFill>
                  <a:srgbClr val="C4493D"/>
                </a:solidFill>
                <a:latin typeface="Aptos"/>
                <a:ea typeface="Aptos"/>
                <a:cs typeface="Aptos"/>
              </a:rPr>
              <a:t>Late -Night Doubts</a:t>
            </a: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90550" y="1885950"/>
            <a:ext cx="1809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1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DSA, Java, OS doubts during exam hours.</a:t>
            </a:r>
          </a:p>
        </p:txBody>
      </p:sp>
      <p:sp>
        <p:nvSpPr>
          <p:cNvPr id="9" name="Rectangle: Rounded Corners 8"/>
          <p:cNvSpPr>
            <a:spLocks noGrp="1"/>
          </p:cNvSpPr>
          <p:nvPr/>
        </p:nvSpPr>
        <p:spPr>
          <a:xfrm>
            <a:off x="2876550" y="1524000"/>
            <a:ext cx="2095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2971800" y="161925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200" b="1">
                <a:solidFill>
                  <a:srgbClr val="5B3A7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3A70"/>
                </a:solidFill>
                <a:latin typeface="Aptos"/>
                <a:ea typeface="Aptos"/>
                <a:cs typeface="Aptos"/>
              </a:rPr>
              <a:t>Roommate Mismatch</a:t>
            </a: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2971800" y="1885950"/>
            <a:ext cx="1809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1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Random pairing creates lifestyle conflicts.</a:t>
            </a:r>
          </a:p>
        </p:txBody>
      </p:sp>
      <p:sp>
        <p:nvSpPr>
          <p:cNvPr id="12" name="Rectangle: Rounded Corners 11"/>
          <p:cNvSpPr>
            <a:spLocks noGrp="1"/>
          </p:cNvSpPr>
          <p:nvPr/>
        </p:nvSpPr>
        <p:spPr>
          <a:xfrm>
            <a:off x="5257800" y="1524000"/>
            <a:ext cx="2095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5353050" y="161925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200" b="1">
                <a:solidFill>
                  <a:srgbClr val="B879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7916"/>
                </a:solidFill>
                <a:latin typeface="Aptos"/>
                <a:ea typeface="Aptos"/>
                <a:cs typeface="Aptos"/>
              </a:rPr>
              <a:t>Unsafe Interactions</a:t>
            </a: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5353050" y="1885950"/>
            <a:ext cx="1809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1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Unknown </a:t>
            </a:r>
            <a:r>
              <a:rPr sz="1100" b="0" dirty="0" err="1">
                <a:solidFill>
                  <a:srgbClr val="5E665F"/>
                </a:solidFill>
                <a:latin typeface="Aptos"/>
                <a:ea typeface="Aptos"/>
                <a:cs typeface="Aptos"/>
              </a:rPr>
              <a:t>neighbours</a:t>
            </a:r>
            <a:r>
              <a:rPr sz="11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 feel awkward to approach.</a:t>
            </a:r>
          </a:p>
        </p:txBody>
      </p:sp>
      <p:sp>
        <p:nvSpPr>
          <p:cNvPr id="15" name="Rectangle: Rounded Corners 14"/>
          <p:cNvSpPr>
            <a:spLocks noGrp="1"/>
          </p:cNvSpPr>
          <p:nvPr/>
        </p:nvSpPr>
        <p:spPr>
          <a:xfrm>
            <a:off x="495300" y="2724150"/>
            <a:ext cx="2095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590550" y="2819400"/>
            <a:ext cx="2486660" cy="504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2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No </a:t>
            </a:r>
            <a:r>
              <a:rPr lang="en-US" sz="12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Intelligent</a:t>
            </a:r>
            <a:r>
              <a:rPr sz="12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 Matching</a:t>
            </a: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590550" y="3086100"/>
            <a:ext cx="1809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1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Need both instant help and best-fit matching.</a:t>
            </a:r>
          </a:p>
        </p:txBody>
      </p:sp>
      <p:sp>
        <p:nvSpPr>
          <p:cNvPr id="18" name="Rectangle: Rounded Corners 17"/>
          <p:cNvSpPr>
            <a:spLocks noGrp="1"/>
          </p:cNvSpPr>
          <p:nvPr/>
        </p:nvSpPr>
        <p:spPr>
          <a:xfrm>
            <a:off x="2876550" y="2724150"/>
            <a:ext cx="2095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2971800" y="281940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20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Out-of-State Isolation</a:t>
            </a: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2971800" y="3086100"/>
            <a:ext cx="1809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1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Language/state familiarity is hard to find.</a:t>
            </a:r>
          </a:p>
        </p:txBody>
      </p:sp>
      <p:sp>
        <p:nvSpPr>
          <p:cNvPr id="21" name="Rectangle: Rounded Corners 20"/>
          <p:cNvSpPr>
            <a:spLocks noGrp="1"/>
          </p:cNvSpPr>
          <p:nvPr/>
        </p:nvSpPr>
        <p:spPr>
          <a:xfrm>
            <a:off x="5257800" y="2724150"/>
            <a:ext cx="2095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5353050" y="281940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20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Unorganized Tools</a:t>
            </a: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5353050" y="3086100"/>
            <a:ext cx="1809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1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Groups and notices are noisy, stale, and unfiltered.</a:t>
            </a: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7867650" y="1466849"/>
            <a:ext cx="3924300" cy="7524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3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Existing solutions still miss the system layer</a:t>
            </a:r>
          </a:p>
        </p:txBody>
      </p:sp>
      <p:sp>
        <p:nvSpPr>
          <p:cNvPr id="25" name="Rectangle 24"/>
          <p:cNvSpPr>
            <a:spLocks noGrp="1"/>
          </p:cNvSpPr>
          <p:nvPr/>
        </p:nvSpPr>
        <p:spPr>
          <a:xfrm>
            <a:off x="7867650" y="1952625"/>
            <a:ext cx="104775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100" b="1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WhatsApp</a:t>
            </a:r>
          </a:p>
        </p:txBody>
      </p:sp>
      <p:sp>
        <p:nvSpPr>
          <p:cNvPr id="26" name="Rectangle 25"/>
          <p:cNvSpPr>
            <a:spLocks noGrp="1"/>
          </p:cNvSpPr>
          <p:nvPr/>
        </p:nvSpPr>
        <p:spPr>
          <a:xfrm>
            <a:off x="8991600" y="1952625"/>
            <a:ext cx="13335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00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000" b="0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No skill filter</a:t>
            </a:r>
          </a:p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10382250" y="1952625"/>
            <a:ext cx="120015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00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000" b="0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No algorithm</a:t>
            </a:r>
          </a:p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7867650" y="2409825"/>
            <a:ext cx="104775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100" b="1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Friends</a:t>
            </a:r>
          </a:p>
        </p:txBody>
      </p:sp>
      <p:sp>
        <p:nvSpPr>
          <p:cNvPr id="29" name="Rectangle 28"/>
          <p:cNvSpPr>
            <a:spLocks noGrp="1"/>
          </p:cNvSpPr>
          <p:nvPr/>
        </p:nvSpPr>
        <p:spPr>
          <a:xfrm>
            <a:off x="8991600" y="2409825"/>
            <a:ext cx="133350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00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000" b="0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Limited reach</a:t>
            </a:r>
          </a:p>
        </p:txBody>
      </p:sp>
      <p:sp>
        <p:nvSpPr>
          <p:cNvPr id="30" name="Rectangle 29"/>
          <p:cNvSpPr>
            <a:spLocks noGrp="1"/>
          </p:cNvSpPr>
          <p:nvPr/>
        </p:nvSpPr>
        <p:spPr>
          <a:xfrm>
            <a:off x="10382250" y="2409825"/>
            <a:ext cx="120015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00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000" b="0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No discovery</a:t>
            </a:r>
          </a:p>
        </p:txBody>
      </p:sp>
      <p:sp>
        <p:nvSpPr>
          <p:cNvPr id="31" name="Rectangle 30"/>
          <p:cNvSpPr>
            <a:spLocks noGrp="1"/>
          </p:cNvSpPr>
          <p:nvPr/>
        </p:nvSpPr>
        <p:spPr>
          <a:xfrm>
            <a:off x="7867650" y="2867025"/>
            <a:ext cx="104775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100" b="1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YouTube</a:t>
            </a:r>
          </a:p>
        </p:txBody>
      </p:sp>
      <p:sp>
        <p:nvSpPr>
          <p:cNvPr id="32" name="Rectangle 31"/>
          <p:cNvSpPr>
            <a:spLocks noGrp="1"/>
          </p:cNvSpPr>
          <p:nvPr/>
        </p:nvSpPr>
        <p:spPr>
          <a:xfrm>
            <a:off x="8991600" y="2867025"/>
            <a:ext cx="13335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00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000" b="0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Generic content</a:t>
            </a:r>
          </a:p>
        </p:txBody>
      </p:sp>
      <p:sp>
        <p:nvSpPr>
          <p:cNvPr id="33" name="Rectangle 32"/>
          <p:cNvSpPr>
            <a:spLocks noGrp="1"/>
          </p:cNvSpPr>
          <p:nvPr/>
        </p:nvSpPr>
        <p:spPr>
          <a:xfrm>
            <a:off x="10382250" y="2867025"/>
            <a:ext cx="120015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00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000" b="0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No syllabus fit</a:t>
            </a:r>
          </a:p>
        </p:txBody>
      </p:sp>
      <p:sp>
        <p:nvSpPr>
          <p:cNvPr id="34" name="Rectangle 33"/>
          <p:cNvSpPr>
            <a:spLocks noGrp="1"/>
          </p:cNvSpPr>
          <p:nvPr/>
        </p:nvSpPr>
        <p:spPr>
          <a:xfrm>
            <a:off x="7867650" y="3324225"/>
            <a:ext cx="1047750" cy="295275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lang="en-IN" sz="1100" b="1" dirty="0"/>
              <a:t>Class Groups</a:t>
            </a:r>
            <a:endParaRPr sz="1100" b="1" dirty="0">
              <a:solidFill>
                <a:srgbClr val="17201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5" name="Rectangle 34"/>
          <p:cNvSpPr>
            <a:spLocks noGrp="1"/>
          </p:cNvSpPr>
          <p:nvPr/>
        </p:nvSpPr>
        <p:spPr>
          <a:xfrm>
            <a:off x="8991600" y="3324225"/>
            <a:ext cx="133350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>
              <a:defRPr sz="900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lang="en-IN" sz="900" dirty="0"/>
              <a:t>Only classmates</a:t>
            </a:r>
            <a:endParaRPr sz="1000" b="0" dirty="0">
              <a:solidFill>
                <a:srgbClr val="17201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6" name="Rectangle 35"/>
          <p:cNvSpPr>
            <a:spLocks noGrp="1"/>
          </p:cNvSpPr>
          <p:nvPr/>
        </p:nvSpPr>
        <p:spPr>
          <a:xfrm>
            <a:off x="10356056" y="3324224"/>
            <a:ext cx="1200150" cy="314325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>
              <a:defRPr sz="900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lang="en-IN" sz="900" dirty="0"/>
              <a:t>No hostel-wide</a:t>
            </a:r>
          </a:p>
          <a:p>
            <a:pPr>
              <a:defRPr sz="900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lang="en-IN" sz="900" dirty="0"/>
              <a:t>discovery</a:t>
            </a:r>
            <a:endParaRPr sz="1000" b="0" dirty="0">
              <a:solidFill>
                <a:srgbClr val="17201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7" name="Rectangle 36"/>
          <p:cNvSpPr>
            <a:spLocks noGrp="1"/>
          </p:cNvSpPr>
          <p:nvPr/>
        </p:nvSpPr>
        <p:spPr>
          <a:xfrm>
            <a:off x="7867650" y="3781425"/>
            <a:ext cx="104775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100" b="1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Nothing</a:t>
            </a:r>
          </a:p>
        </p:txBody>
      </p:sp>
      <p:sp>
        <p:nvSpPr>
          <p:cNvPr id="38" name="Rectangle 37"/>
          <p:cNvSpPr>
            <a:spLocks noGrp="1"/>
          </p:cNvSpPr>
          <p:nvPr/>
        </p:nvSpPr>
        <p:spPr>
          <a:xfrm>
            <a:off x="8991600" y="3781425"/>
            <a:ext cx="13335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00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000" b="0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Silent struggle</a:t>
            </a:r>
          </a:p>
        </p:txBody>
      </p:sp>
      <p:sp>
        <p:nvSpPr>
          <p:cNvPr id="39" name="Rectangle 38"/>
          <p:cNvSpPr>
            <a:spLocks noGrp="1"/>
          </p:cNvSpPr>
          <p:nvPr/>
        </p:nvSpPr>
        <p:spPr>
          <a:xfrm>
            <a:off x="10382250" y="3781425"/>
            <a:ext cx="120015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00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000" b="0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No platform</a:t>
            </a:r>
          </a:p>
        </p:txBody>
      </p:sp>
      <p:sp>
        <p:nvSpPr>
          <p:cNvPr id="40" name="Rectangle 39"/>
          <p:cNvSpPr>
            <a:spLocks noGrp="1"/>
          </p:cNvSpPr>
          <p:nvPr/>
        </p:nvSpPr>
        <p:spPr>
          <a:xfrm>
            <a:off x="666750" y="5286375"/>
            <a:ext cx="10382250" cy="514350"/>
          </a:xfrm>
          <a:prstGeom prst="rect">
            <a:avLst/>
          </a:prstGeom>
          <a:solidFill>
            <a:srgbClr val="102019"/>
          </a:solidFill>
          <a:ln w="0">
            <a:solidFill>
              <a:srgbClr val="10201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Rectangle 40"/>
          <p:cNvSpPr>
            <a:spLocks noGrp="1"/>
          </p:cNvSpPr>
          <p:nvPr/>
        </p:nvSpPr>
        <p:spPr>
          <a:xfrm>
            <a:off x="838200" y="5334000"/>
            <a:ext cx="10001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800" b="1">
                <a:solidFill>
                  <a:srgbClr val="F6E7C4"/>
                </a:solidFill>
                <a:latin typeface="Aptos"/>
                <a:ea typeface="Aptos"/>
                <a:cs typeface="Aptos"/>
              </a:defRPr>
            </a:pPr>
            <a:r>
              <a:rPr sz="1800" b="1" dirty="0">
                <a:solidFill>
                  <a:srgbClr val="F6E7C4"/>
                </a:solidFill>
                <a:latin typeface="Aptos"/>
                <a:ea typeface="Aptos"/>
                <a:cs typeface="Aptos"/>
              </a:rPr>
              <a:t>"</a:t>
            </a:r>
            <a:r>
              <a:rPr lang="en-US" altLang="en-US" sz="1800" b="1" dirty="0">
                <a:solidFill>
                  <a:srgbClr val="F6E7C4"/>
                </a:solidFill>
                <a:latin typeface="Aptos"/>
                <a:ea typeface="Aptos"/>
                <a:cs typeface="Aptos"/>
              </a:rPr>
              <a:t>Learning resources exist around you - but remain invisible</a:t>
            </a:r>
            <a:r>
              <a:rPr sz="1800" b="1" dirty="0">
                <a:solidFill>
                  <a:srgbClr val="F6E7C4"/>
                </a:solidFill>
                <a:latin typeface="Aptos"/>
                <a:ea typeface="Aptos"/>
                <a:cs typeface="Aptos"/>
              </a:rPr>
              <a:t>."</a:t>
            </a:r>
          </a:p>
        </p:txBody>
      </p:sp>
      <p:sp>
        <p:nvSpPr>
          <p:cNvPr id="42" name="Rectangle 41"/>
          <p:cNvSpPr>
            <a:spLocks noGrp="1"/>
          </p:cNvSpPr>
          <p:nvPr/>
        </p:nvSpPr>
        <p:spPr>
          <a:xfrm>
            <a:off x="400050" y="6362700"/>
            <a:ext cx="590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750" b="1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INAI | Smart Study Partner &amp; Roommate Matching System</a:t>
            </a: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9450" y="202301"/>
            <a:ext cx="1242873" cy="37644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kicker-3-label"/>
          <p:cNvSpPr>
            <a:spLocks noGrp="1"/>
          </p:cNvSpPr>
          <p:nvPr/>
        </p:nvSpPr>
        <p:spPr>
          <a:xfrm>
            <a:off x="552450" y="323850"/>
            <a:ext cx="1952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050" b="1" dirty="0">
                <a:solidFill>
                  <a:srgbClr val="0F7A5A"/>
                </a:solidFill>
                <a:latin typeface="Aptos"/>
                <a:ea typeface="Aptos"/>
                <a:cs typeface="Aptos"/>
              </a:rPr>
              <a:t>SOLUTION</a:t>
            </a:r>
          </a:p>
        </p:txBody>
      </p:sp>
      <p:sp>
        <p:nvSpPr>
          <p:cNvPr id="2" name="kicker-3-marker"/>
          <p:cNvSpPr>
            <a:spLocks noGrp="1"/>
          </p:cNvSpPr>
          <p:nvPr/>
        </p:nvSpPr>
        <p:spPr>
          <a:xfrm>
            <a:off x="400050" y="390525"/>
            <a:ext cx="76200" cy="76200"/>
          </a:xfrm>
          <a:prstGeom prst="ellipse">
            <a:avLst/>
          </a:prstGeom>
          <a:solidFill>
            <a:srgbClr val="0F7A5A"/>
          </a:solidFill>
          <a:ln w="0">
            <a:solidFill>
              <a:srgbClr val="0F7A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400050" y="590550"/>
            <a:ext cx="101727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dirty="0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INAI turns student profiles into safe, ranked academic connections.</a:t>
            </a: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400050" y="1181100"/>
            <a:ext cx="113919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0991850" y="63817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Oval 5"/>
          <p:cNvSpPr>
            <a:spLocks noGrp="1"/>
          </p:cNvSpPr>
          <p:nvPr/>
        </p:nvSpPr>
        <p:spPr>
          <a:xfrm>
            <a:off x="647700" y="1571625"/>
            <a:ext cx="723900" cy="723900"/>
          </a:xfrm>
          <a:prstGeom prst="ellipse">
            <a:avLst/>
          </a:prstGeom>
          <a:solidFill>
            <a:srgbClr val="0F7A5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819150" y="1781175"/>
            <a:ext cx="381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1524000" y="1571625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50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400" b="1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Register</a:t>
            </a: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1524000" y="1885950"/>
            <a:ext cx="1524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Skills, hostel, block, subjects, lifestyle</a:t>
            </a: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2914650" y="1885950"/>
            <a:ext cx="400050" cy="19050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Oval 10"/>
          <p:cNvSpPr>
            <a:spLocks noGrp="1"/>
          </p:cNvSpPr>
          <p:nvPr/>
        </p:nvSpPr>
        <p:spPr>
          <a:xfrm>
            <a:off x="3267075" y="1571625"/>
            <a:ext cx="723900" cy="723900"/>
          </a:xfrm>
          <a:prstGeom prst="ellipse">
            <a:avLst/>
          </a:prstGeom>
          <a:solidFill>
            <a:srgbClr val="B8791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3429000" y="1781175"/>
            <a:ext cx="381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4143375" y="1571625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50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400" b="1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Match</a:t>
            </a: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4143375" y="1885950"/>
            <a:ext cx="1524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Quick, Preference, or Roommate ranking</a:t>
            </a: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5534025" y="1885950"/>
            <a:ext cx="400050" cy="19050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Oval 15"/>
          <p:cNvSpPr>
            <a:spLocks noGrp="1"/>
          </p:cNvSpPr>
          <p:nvPr/>
        </p:nvSpPr>
        <p:spPr>
          <a:xfrm>
            <a:off x="5886450" y="1571625"/>
            <a:ext cx="723900" cy="723900"/>
          </a:xfrm>
          <a:prstGeom prst="ellipse">
            <a:avLst/>
          </a:prstGeom>
          <a:solidFill>
            <a:srgbClr val="0B7285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6044471" y="1781175"/>
            <a:ext cx="381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6762750" y="1571625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50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400" b="1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Connect Safely</a:t>
            </a: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6762750" y="1885950"/>
            <a:ext cx="1524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Request first; room reveals only after accept</a:t>
            </a: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685800" y="2952750"/>
            <a:ext cx="457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50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400" b="1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Preference scoring model</a:t>
            </a: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742950" y="3390900"/>
            <a:ext cx="17145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Proximity</a:t>
            </a: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2571750" y="3390900"/>
            <a:ext cx="6477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20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40%</a:t>
            </a: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3333750" y="3390900"/>
            <a:ext cx="238125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Same block/hostel</a:t>
            </a: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742950" y="3829050"/>
            <a:ext cx="171450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Skill complement</a:t>
            </a:r>
          </a:p>
        </p:txBody>
      </p:sp>
      <p:sp>
        <p:nvSpPr>
          <p:cNvPr id="25" name="Rectangle 24"/>
          <p:cNvSpPr>
            <a:spLocks noGrp="1"/>
          </p:cNvSpPr>
          <p:nvPr/>
        </p:nvSpPr>
        <p:spPr>
          <a:xfrm>
            <a:off x="2571750" y="3829050"/>
            <a:ext cx="64770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20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30%</a:t>
            </a:r>
          </a:p>
        </p:txBody>
      </p:sp>
      <p:sp>
        <p:nvSpPr>
          <p:cNvPr id="26" name="Rectangle 25"/>
          <p:cNvSpPr>
            <a:spLocks noGrp="1"/>
          </p:cNvSpPr>
          <p:nvPr/>
        </p:nvSpPr>
        <p:spPr>
          <a:xfrm>
            <a:off x="3333750" y="3829050"/>
            <a:ext cx="238125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Need ∩ their strong subject</a:t>
            </a:r>
          </a:p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742950" y="4267200"/>
            <a:ext cx="17145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Academic fit</a:t>
            </a:r>
          </a:p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2571750" y="4267200"/>
            <a:ext cx="6477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20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29" name="Rectangle 28"/>
          <p:cNvSpPr>
            <a:spLocks noGrp="1"/>
          </p:cNvSpPr>
          <p:nvPr/>
        </p:nvSpPr>
        <p:spPr>
          <a:xfrm>
            <a:off x="3333750" y="4267200"/>
            <a:ext cx="238125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Same branch + same year</a:t>
            </a:r>
          </a:p>
        </p:txBody>
      </p:sp>
      <p:sp>
        <p:nvSpPr>
          <p:cNvPr id="30" name="Rectangle 29"/>
          <p:cNvSpPr>
            <a:spLocks noGrp="1"/>
          </p:cNvSpPr>
          <p:nvPr/>
        </p:nvSpPr>
        <p:spPr>
          <a:xfrm>
            <a:off x="742950" y="4705350"/>
            <a:ext cx="171450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State/language</a:t>
            </a:r>
          </a:p>
        </p:txBody>
      </p:sp>
      <p:sp>
        <p:nvSpPr>
          <p:cNvPr id="31" name="Rectangle 30"/>
          <p:cNvSpPr>
            <a:spLocks noGrp="1"/>
          </p:cNvSpPr>
          <p:nvPr/>
        </p:nvSpPr>
        <p:spPr>
          <a:xfrm>
            <a:off x="2571750" y="4705350"/>
            <a:ext cx="64770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20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32" name="Rectangle 31"/>
          <p:cNvSpPr>
            <a:spLocks noGrp="1"/>
          </p:cNvSpPr>
          <p:nvPr/>
        </p:nvSpPr>
        <p:spPr>
          <a:xfrm>
            <a:off x="3333750" y="4705350"/>
            <a:ext cx="238125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Familiar peer support</a:t>
            </a:r>
          </a:p>
        </p:txBody>
      </p:sp>
      <p:sp>
        <p:nvSpPr>
          <p:cNvPr id="33" name="Rectangle: Rounded Corners 32"/>
          <p:cNvSpPr>
            <a:spLocks noGrp="1"/>
          </p:cNvSpPr>
          <p:nvPr/>
        </p:nvSpPr>
        <p:spPr>
          <a:xfrm>
            <a:off x="6705600" y="3143250"/>
            <a:ext cx="4305300" cy="1924050"/>
          </a:xfrm>
          <a:prstGeom prst="roundRect">
            <a:avLst>
              <a:gd name="adj" fmla="val 3960"/>
            </a:avLst>
          </a:prstGeom>
          <a:solidFill>
            <a:srgbClr val="102019"/>
          </a:solidFill>
          <a:ln w="9525">
            <a:solidFill>
              <a:srgbClr val="10201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Rectangle 33"/>
          <p:cNvSpPr>
            <a:spLocks noGrp="1"/>
          </p:cNvSpPr>
          <p:nvPr/>
        </p:nvSpPr>
        <p:spPr>
          <a:xfrm>
            <a:off x="6934200" y="3371850"/>
            <a:ext cx="3714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200" b="1">
                <a:solidFill>
                  <a:srgbClr val="9FE3C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FE3C8"/>
                </a:solidFill>
                <a:latin typeface="Aptos"/>
                <a:ea typeface="Aptos"/>
                <a:cs typeface="Aptos"/>
              </a:rPr>
              <a:t>Live example</a:t>
            </a:r>
          </a:p>
        </p:txBody>
      </p:sp>
      <p:sp>
        <p:nvSpPr>
          <p:cNvPr id="35" name="Rectangle 34"/>
          <p:cNvSpPr>
            <a:spLocks noGrp="1"/>
          </p:cNvSpPr>
          <p:nvPr/>
        </p:nvSpPr>
        <p:spPr>
          <a:xfrm>
            <a:off x="6934200" y="3733800"/>
            <a:ext cx="3714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Saravanavelu needs DSA help</a:t>
            </a:r>
          </a:p>
        </p:txBody>
      </p:sp>
      <p:sp>
        <p:nvSpPr>
          <p:cNvPr id="36" name="Rectangle 35"/>
          <p:cNvSpPr>
            <a:spLocks noGrp="1"/>
          </p:cNvSpPr>
          <p:nvPr/>
        </p:nvSpPr>
        <p:spPr>
          <a:xfrm>
            <a:off x="6934200" y="4171950"/>
            <a:ext cx="3714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200" b="0">
                <a:solidFill>
                  <a:srgbClr val="DDE8D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DE8DE"/>
                </a:solidFill>
                <a:latin typeface="Aptos"/>
                <a:ea typeface="Aptos"/>
                <a:cs typeface="Aptos"/>
              </a:rPr>
              <a:t>Muthu Pandi: same block + DSA Expert + same branch</a:t>
            </a:r>
          </a:p>
        </p:txBody>
      </p:sp>
      <p:sp>
        <p:nvSpPr>
          <p:cNvPr id="37" name="Rectangle 36"/>
          <p:cNvSpPr>
            <a:spLocks noGrp="1"/>
          </p:cNvSpPr>
          <p:nvPr/>
        </p:nvSpPr>
        <p:spPr>
          <a:xfrm>
            <a:off x="6934200" y="4648200"/>
            <a:ext cx="3714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350" b="1">
                <a:solidFill>
                  <a:srgbClr val="F6E7C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E7C4"/>
                </a:solidFill>
                <a:latin typeface="Aptos"/>
                <a:ea typeface="Aptos"/>
                <a:cs typeface="Aptos"/>
              </a:rPr>
              <a:t>40 + 30 + 10 = 80% Match -&gt; sorted to top</a:t>
            </a:r>
          </a:p>
        </p:txBody>
      </p:sp>
      <p:sp>
        <p:nvSpPr>
          <p:cNvPr id="38" name="Rectangle 37"/>
          <p:cNvSpPr>
            <a:spLocks noGrp="1"/>
          </p:cNvSpPr>
          <p:nvPr/>
        </p:nvSpPr>
        <p:spPr>
          <a:xfrm>
            <a:off x="400050" y="6362700"/>
            <a:ext cx="590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750" b="1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INAI | Smart Study Partner &amp; Roommate Matching System</a:t>
            </a:r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9450" y="202301"/>
            <a:ext cx="1242873" cy="3764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28414F-440C-3808-0A70-34AA9819D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4966692-39D4-AD8E-02DF-992E4B0BF1A6}"/>
              </a:ext>
            </a:extLst>
          </p:cNvPr>
          <p:cNvSpPr txBox="1"/>
          <p:nvPr/>
        </p:nvSpPr>
        <p:spPr>
          <a:xfrm>
            <a:off x="119922" y="134912"/>
            <a:ext cx="1903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Register Page: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9483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ABBBC5-1D16-1806-D241-3B8EA32B3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BB50B1-B954-CDC9-45B7-E477A1C5DEAA}"/>
              </a:ext>
            </a:extLst>
          </p:cNvPr>
          <p:cNvSpPr txBox="1"/>
          <p:nvPr/>
        </p:nvSpPr>
        <p:spPr>
          <a:xfrm>
            <a:off x="119922" y="134912"/>
            <a:ext cx="24583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Find Match&amp;</a:t>
            </a:r>
          </a:p>
          <a:p>
            <a:r>
              <a:rPr lang="en-US" b="1" dirty="0" err="1">
                <a:solidFill>
                  <a:schemeClr val="bg1"/>
                </a:solidFill>
              </a:rPr>
              <a:t>Preferance</a:t>
            </a:r>
            <a:r>
              <a:rPr lang="en-US" b="1" dirty="0">
                <a:solidFill>
                  <a:schemeClr val="bg1"/>
                </a:solidFill>
              </a:rPr>
              <a:t>: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8120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A0AF62-3A60-D5D5-5AFE-C271A21C7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904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kicker-4-label"/>
          <p:cNvSpPr>
            <a:spLocks noGrp="1"/>
          </p:cNvSpPr>
          <p:nvPr/>
        </p:nvSpPr>
        <p:spPr>
          <a:xfrm>
            <a:off x="552450" y="323850"/>
            <a:ext cx="1952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050" b="1" dirty="0">
                <a:solidFill>
                  <a:srgbClr val="0F7A5A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2" name="kicker-4-marker"/>
          <p:cNvSpPr>
            <a:spLocks noGrp="1"/>
          </p:cNvSpPr>
          <p:nvPr/>
        </p:nvSpPr>
        <p:spPr>
          <a:xfrm>
            <a:off x="400050" y="390525"/>
            <a:ext cx="76200" cy="76200"/>
          </a:xfrm>
          <a:prstGeom prst="ellipse">
            <a:avLst/>
          </a:prstGeom>
          <a:solidFill>
            <a:srgbClr val="0F7A5A"/>
          </a:solidFill>
          <a:ln w="0">
            <a:solidFill>
              <a:srgbClr val="0F7A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400049" y="590550"/>
            <a:ext cx="10872553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dirty="0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The updated version uses a real backend and MongoDB Atlas persistence.</a:t>
            </a: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400050" y="1181100"/>
            <a:ext cx="113919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0991850" y="63817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Rectangle: Rounded Corners 5"/>
          <p:cNvSpPr>
            <a:spLocks noGrp="1"/>
          </p:cNvSpPr>
          <p:nvPr/>
        </p:nvSpPr>
        <p:spPr>
          <a:xfrm>
            <a:off x="704850" y="1809750"/>
            <a:ext cx="285750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876300" y="198120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57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Browser UI</a:t>
            </a: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876300" y="2305050"/>
            <a:ext cx="2476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HTML5, CSS3, Vanilla JS</a:t>
            </a:r>
          </a:p>
          <a:p>
            <a:pPr algn="l">
              <a:defRPr sz="10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Dashboard, Match, Map, Admin</a:t>
            </a:r>
          </a:p>
        </p:txBody>
      </p:sp>
      <p:sp>
        <p:nvSpPr>
          <p:cNvPr id="9" name="Rectangle: Rounded Corners 8"/>
          <p:cNvSpPr>
            <a:spLocks noGrp="1"/>
          </p:cNvSpPr>
          <p:nvPr/>
        </p:nvSpPr>
        <p:spPr>
          <a:xfrm>
            <a:off x="4476750" y="1809750"/>
            <a:ext cx="285750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0F7A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4648200" y="198120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575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REST API</a:t>
            </a: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4648200" y="2305050"/>
            <a:ext cx="2476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Node.js + Express</a:t>
            </a:r>
          </a:p>
          <a:p>
            <a:pPr algn="l">
              <a:defRPr sz="10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Auth, users, matches, requests</a:t>
            </a:r>
          </a:p>
        </p:txBody>
      </p:sp>
      <p:sp>
        <p:nvSpPr>
          <p:cNvPr id="12" name="Rectangle: Rounded Corners 11"/>
          <p:cNvSpPr>
            <a:spLocks noGrp="1"/>
          </p:cNvSpPr>
          <p:nvPr/>
        </p:nvSpPr>
        <p:spPr>
          <a:xfrm>
            <a:off x="8248650" y="1809750"/>
            <a:ext cx="285750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B879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8420100" y="198120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575" b="1">
                <a:solidFill>
                  <a:srgbClr val="B879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7916"/>
                </a:solidFill>
                <a:latin typeface="Aptos"/>
                <a:ea typeface="Aptos"/>
                <a:cs typeface="Aptos"/>
              </a:rPr>
              <a:t>MongoDB Atlas</a:t>
            </a: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8420100" y="2305050"/>
            <a:ext cx="2476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Cloud NoSQL database</a:t>
            </a:r>
          </a:p>
          <a:p>
            <a:pPr algn="l">
              <a:defRPr sz="10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Users, requests, sessions, rooms</a:t>
            </a: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3562350" y="2400300"/>
            <a:ext cx="762000" cy="28575"/>
          </a:xfrm>
          <a:prstGeom prst="rect">
            <a:avLst/>
          </a:prstGeom>
          <a:solidFill>
            <a:srgbClr val="17201B"/>
          </a:solidFill>
          <a:ln w="0">
            <a:solidFill>
              <a:srgbClr val="17201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Isosceles Triangle 15"/>
          <p:cNvSpPr>
            <a:spLocks noGrp="1"/>
          </p:cNvSpPr>
          <p:nvPr/>
        </p:nvSpPr>
        <p:spPr>
          <a:xfrm rot="5400000">
            <a:off x="4248150" y="2343150"/>
            <a:ext cx="133350" cy="133350"/>
          </a:xfrm>
          <a:prstGeom prst="triangle">
            <a:avLst/>
          </a:prstGeom>
          <a:solidFill>
            <a:srgbClr val="17201B"/>
          </a:solidFill>
          <a:ln w="0">
            <a:solidFill>
              <a:srgbClr val="17201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7334250" y="2400300"/>
            <a:ext cx="762000" cy="28575"/>
          </a:xfrm>
          <a:prstGeom prst="rect">
            <a:avLst/>
          </a:prstGeom>
          <a:solidFill>
            <a:srgbClr val="17201B"/>
          </a:solidFill>
          <a:ln w="0">
            <a:solidFill>
              <a:srgbClr val="17201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Isosceles Triangle 17"/>
          <p:cNvSpPr>
            <a:spLocks noGrp="1"/>
          </p:cNvSpPr>
          <p:nvPr/>
        </p:nvSpPr>
        <p:spPr>
          <a:xfrm rot="5400000">
            <a:off x="8020050" y="2343150"/>
            <a:ext cx="133350" cy="133350"/>
          </a:xfrm>
          <a:prstGeom prst="triangle">
            <a:avLst/>
          </a:prstGeom>
          <a:solidFill>
            <a:srgbClr val="17201B"/>
          </a:solidFill>
          <a:ln w="0">
            <a:solidFill>
              <a:srgbClr val="17201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914400" y="3543300"/>
            <a:ext cx="990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50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Security and control layer</a:t>
            </a:r>
          </a:p>
        </p:txBody>
      </p:sp>
      <p:sp>
        <p:nvSpPr>
          <p:cNvPr id="20" name="Rectangle: Rounded Corners 19"/>
          <p:cNvSpPr>
            <a:spLocks noGrp="1"/>
          </p:cNvSpPr>
          <p:nvPr/>
        </p:nvSpPr>
        <p:spPr>
          <a:xfrm>
            <a:off x="838200" y="4000500"/>
            <a:ext cx="22669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971550" y="4114800"/>
            <a:ext cx="2381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150" b="1" dirty="0">
                <a:solidFill>
                  <a:srgbClr val="0F7A5A"/>
                </a:solidFill>
                <a:latin typeface="Aptos"/>
                <a:ea typeface="Aptos"/>
                <a:cs typeface="Aptos"/>
              </a:rPr>
              <a:t>PBKDF2 password hashing</a:t>
            </a: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971550" y="4400550"/>
            <a:ext cx="1962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0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120,000 iterations; timing-safe verification</a:t>
            </a:r>
          </a:p>
        </p:txBody>
      </p:sp>
      <p:sp>
        <p:nvSpPr>
          <p:cNvPr id="23" name="Rectangle: Rounded Corners 22"/>
          <p:cNvSpPr>
            <a:spLocks noGrp="1"/>
          </p:cNvSpPr>
          <p:nvPr/>
        </p:nvSpPr>
        <p:spPr>
          <a:xfrm>
            <a:off x="3486150" y="4000500"/>
            <a:ext cx="22669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3619500" y="411480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150" b="1" dirty="0">
                <a:solidFill>
                  <a:srgbClr val="0B7285"/>
                </a:solidFill>
                <a:latin typeface="Aptos"/>
                <a:ea typeface="Aptos"/>
                <a:cs typeface="Aptos"/>
              </a:rPr>
              <a:t>HMAC/JWT-style tokens</a:t>
            </a:r>
          </a:p>
        </p:txBody>
      </p:sp>
      <p:sp>
        <p:nvSpPr>
          <p:cNvPr id="25" name="Rectangle 24"/>
          <p:cNvSpPr>
            <a:spLocks noGrp="1"/>
          </p:cNvSpPr>
          <p:nvPr/>
        </p:nvSpPr>
        <p:spPr>
          <a:xfrm>
            <a:off x="3619500" y="4400550"/>
            <a:ext cx="1962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0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User and admin routes separated</a:t>
            </a:r>
          </a:p>
        </p:txBody>
      </p:sp>
      <p:sp>
        <p:nvSpPr>
          <p:cNvPr id="26" name="Rectangle: Rounded Corners 25"/>
          <p:cNvSpPr>
            <a:spLocks noGrp="1"/>
          </p:cNvSpPr>
          <p:nvPr/>
        </p:nvSpPr>
        <p:spPr>
          <a:xfrm>
            <a:off x="6134100" y="4000500"/>
            <a:ext cx="22669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6267450" y="411480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1">
                <a:solidFill>
                  <a:srgbClr val="5B3A70"/>
                </a:solidFill>
                <a:latin typeface="Aptos"/>
                <a:ea typeface="Aptos"/>
                <a:cs typeface="Aptos"/>
              </a:defRPr>
            </a:pPr>
            <a:r>
              <a:rPr sz="1125" b="1" dirty="0">
                <a:solidFill>
                  <a:srgbClr val="5B3A70"/>
                </a:solidFill>
                <a:latin typeface="Aptos"/>
                <a:ea typeface="Aptos"/>
                <a:cs typeface="Aptos"/>
              </a:rPr>
              <a:t>Privacy </a:t>
            </a:r>
            <a:r>
              <a:rPr sz="1150" b="1" dirty="0">
                <a:solidFill>
                  <a:srgbClr val="5B3A70"/>
                </a:solidFill>
                <a:latin typeface="Aptos"/>
                <a:ea typeface="Aptos"/>
                <a:cs typeface="Aptos"/>
              </a:rPr>
              <a:t>middleware</a:t>
            </a:r>
          </a:p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6267450" y="4400550"/>
            <a:ext cx="1962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0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Room/name hidden until mutual connection</a:t>
            </a:r>
          </a:p>
        </p:txBody>
      </p:sp>
      <p:sp>
        <p:nvSpPr>
          <p:cNvPr id="29" name="Rectangle: Rounded Corners 28"/>
          <p:cNvSpPr>
            <a:spLocks noGrp="1"/>
          </p:cNvSpPr>
          <p:nvPr/>
        </p:nvSpPr>
        <p:spPr>
          <a:xfrm>
            <a:off x="8782050" y="4000500"/>
            <a:ext cx="22669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 29"/>
          <p:cNvSpPr>
            <a:spLocks noGrp="1"/>
          </p:cNvSpPr>
          <p:nvPr/>
        </p:nvSpPr>
        <p:spPr>
          <a:xfrm>
            <a:off x="8915400" y="411480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1">
                <a:solidFill>
                  <a:srgbClr val="C4493D"/>
                </a:solidFill>
                <a:latin typeface="Aptos"/>
                <a:ea typeface="Aptos"/>
                <a:cs typeface="Aptos"/>
              </a:defRPr>
            </a:pPr>
            <a:r>
              <a:rPr sz="1150" b="1" dirty="0">
                <a:solidFill>
                  <a:srgbClr val="C4493D"/>
                </a:solidFill>
                <a:latin typeface="Aptos"/>
                <a:ea typeface="Aptos"/>
                <a:cs typeface="Aptos"/>
              </a:rPr>
              <a:t>Rate limiting</a:t>
            </a:r>
          </a:p>
        </p:txBody>
      </p:sp>
      <p:sp>
        <p:nvSpPr>
          <p:cNvPr id="31" name="Rectangle 30"/>
          <p:cNvSpPr>
            <a:spLocks noGrp="1"/>
          </p:cNvSpPr>
          <p:nvPr/>
        </p:nvSpPr>
        <p:spPr>
          <a:xfrm>
            <a:off x="8915400" y="4400550"/>
            <a:ext cx="1962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0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Brute-force protection for login/admin</a:t>
            </a:r>
          </a:p>
        </p:txBody>
      </p:sp>
      <p:sp>
        <p:nvSpPr>
          <p:cNvPr id="32" name="Rectangle 31"/>
          <p:cNvSpPr>
            <a:spLocks noGrp="1"/>
          </p:cNvSpPr>
          <p:nvPr/>
        </p:nvSpPr>
        <p:spPr>
          <a:xfrm>
            <a:off x="914400" y="5334000"/>
            <a:ext cx="9715500" cy="32385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650" b="1">
                <a:solidFill>
                  <a:srgbClr val="10201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019"/>
                </a:solidFill>
                <a:latin typeface="Aptos"/>
                <a:ea typeface="Aptos"/>
                <a:cs typeface="Aptos"/>
              </a:rPr>
              <a:t>Tech stack: Node.js, Express.js, MongoDB Atlas, Mongoose, Vanilla HTML/CSS/JavaScript</a:t>
            </a:r>
          </a:p>
        </p:txBody>
      </p:sp>
      <p:sp>
        <p:nvSpPr>
          <p:cNvPr id="33" name="Rectangle 32"/>
          <p:cNvSpPr>
            <a:spLocks noGrp="1"/>
          </p:cNvSpPr>
          <p:nvPr/>
        </p:nvSpPr>
        <p:spPr>
          <a:xfrm>
            <a:off x="400050" y="6362700"/>
            <a:ext cx="590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750" b="1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INAI | Smart Study Partner &amp; Roommate Matching System</a:t>
            </a: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9450" y="202301"/>
            <a:ext cx="1242873" cy="3764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kicker-5-label"/>
          <p:cNvSpPr>
            <a:spLocks noGrp="1"/>
          </p:cNvSpPr>
          <p:nvPr/>
        </p:nvSpPr>
        <p:spPr>
          <a:xfrm>
            <a:off x="552450" y="323850"/>
            <a:ext cx="1952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050" b="1" dirty="0">
                <a:solidFill>
                  <a:srgbClr val="0F7A5A"/>
                </a:solidFill>
                <a:latin typeface="Aptos"/>
                <a:ea typeface="Aptos"/>
                <a:cs typeface="Aptos"/>
              </a:rPr>
              <a:t>FEATURES</a:t>
            </a:r>
          </a:p>
        </p:txBody>
      </p:sp>
      <p:sp>
        <p:nvSpPr>
          <p:cNvPr id="2" name="kicker-5-marker"/>
          <p:cNvSpPr>
            <a:spLocks noGrp="1"/>
          </p:cNvSpPr>
          <p:nvPr/>
        </p:nvSpPr>
        <p:spPr>
          <a:xfrm>
            <a:off x="400050" y="390525"/>
            <a:ext cx="76200" cy="76200"/>
          </a:xfrm>
          <a:prstGeom prst="ellipse">
            <a:avLst/>
          </a:prstGeom>
          <a:solidFill>
            <a:srgbClr val="0F7A5A"/>
          </a:solidFill>
          <a:ln w="0">
            <a:solidFill>
              <a:srgbClr val="0F7A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400049" y="590550"/>
            <a:ext cx="11117861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dirty="0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The product now covers discovery, coordination, privacy, productivity, and admin control.</a:t>
            </a: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400050" y="1347787"/>
            <a:ext cx="113919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0991850" y="63817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704850" y="1428750"/>
            <a:ext cx="4286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65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Matching &amp; safety</a:t>
            </a: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6705600" y="1428750"/>
            <a:ext cx="4286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65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Study workflow &amp; operations</a:t>
            </a:r>
          </a:p>
        </p:txBody>
      </p:sp>
      <p:sp>
        <p:nvSpPr>
          <p:cNvPr id="8" name="Rectangle: Rounded Corners 7"/>
          <p:cNvSpPr>
            <a:spLocks noGrp="1"/>
          </p:cNvSpPr>
          <p:nvPr/>
        </p:nvSpPr>
        <p:spPr>
          <a:xfrm>
            <a:off x="704850" y="1962150"/>
            <a:ext cx="44767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857250" y="2038350"/>
            <a:ext cx="15716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Quick Match</a:t>
            </a: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2495550" y="2038350"/>
            <a:ext cx="26860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4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3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Nearby and Free Now students first</a:t>
            </a:r>
          </a:p>
        </p:txBody>
      </p:sp>
      <p:sp>
        <p:nvSpPr>
          <p:cNvPr id="11" name="Rectangle: Rounded Corners 10"/>
          <p:cNvSpPr>
            <a:spLocks noGrp="1"/>
          </p:cNvSpPr>
          <p:nvPr/>
        </p:nvSpPr>
        <p:spPr>
          <a:xfrm>
            <a:off x="704850" y="2647950"/>
            <a:ext cx="4476750" cy="495300"/>
          </a:xfrm>
          <a:prstGeom prst="roundRect">
            <a:avLst>
              <a:gd name="adj" fmla="val 15385"/>
            </a:avLst>
          </a:prstGeom>
          <a:solidFill>
            <a:srgbClr val="EFE8DA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857250" y="2724150"/>
            <a:ext cx="15716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Preference Match</a:t>
            </a: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2495550" y="2676525"/>
            <a:ext cx="28384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4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3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Subject, score, branch, year, state filters</a:t>
            </a:r>
          </a:p>
        </p:txBody>
      </p:sp>
      <p:sp>
        <p:nvSpPr>
          <p:cNvPr id="14" name="Rectangle: Rounded Corners 13"/>
          <p:cNvSpPr>
            <a:spLocks noGrp="1"/>
          </p:cNvSpPr>
          <p:nvPr/>
        </p:nvSpPr>
        <p:spPr>
          <a:xfrm>
            <a:off x="704850" y="3333750"/>
            <a:ext cx="44767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857250" y="3409950"/>
            <a:ext cx="15716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Roommate Match</a:t>
            </a: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2495550" y="3362325"/>
            <a:ext cx="2686050" cy="53339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4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3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Lifestyle compatibility: sleep, study style, cleanliness</a:t>
            </a:r>
          </a:p>
        </p:txBody>
      </p:sp>
      <p:sp>
        <p:nvSpPr>
          <p:cNvPr id="17" name="Rectangle: Rounded Corners 16"/>
          <p:cNvSpPr>
            <a:spLocks noGrp="1"/>
          </p:cNvSpPr>
          <p:nvPr/>
        </p:nvSpPr>
        <p:spPr>
          <a:xfrm>
            <a:off x="704850" y="4019550"/>
            <a:ext cx="4476750" cy="495300"/>
          </a:xfrm>
          <a:prstGeom prst="roundRect">
            <a:avLst>
              <a:gd name="adj" fmla="val 15385"/>
            </a:avLst>
          </a:prstGeom>
          <a:solidFill>
            <a:srgbClr val="EFE8DA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857250" y="4095750"/>
            <a:ext cx="15716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Hostel Map</a:t>
            </a: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2495549" y="4019550"/>
            <a:ext cx="261937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4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3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Room-level visual map scoped to own hostel</a:t>
            </a:r>
          </a:p>
        </p:txBody>
      </p:sp>
      <p:sp>
        <p:nvSpPr>
          <p:cNvPr id="20" name="Rectangle: Rounded Corners 19"/>
          <p:cNvSpPr>
            <a:spLocks noGrp="1"/>
          </p:cNvSpPr>
          <p:nvPr/>
        </p:nvSpPr>
        <p:spPr>
          <a:xfrm>
            <a:off x="704850" y="4705350"/>
            <a:ext cx="44767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857250" y="4781550"/>
            <a:ext cx="15716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Privacy Model</a:t>
            </a: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2495549" y="4705350"/>
            <a:ext cx="2676525" cy="55721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4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3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Anonymous until request is accepted</a:t>
            </a:r>
          </a:p>
        </p:txBody>
      </p:sp>
      <p:sp>
        <p:nvSpPr>
          <p:cNvPr id="23" name="Rectangle: Rounded Corners 22"/>
          <p:cNvSpPr>
            <a:spLocks noGrp="1"/>
          </p:cNvSpPr>
          <p:nvPr/>
        </p:nvSpPr>
        <p:spPr>
          <a:xfrm>
            <a:off x="6705599" y="1962150"/>
            <a:ext cx="4610099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6858000" y="2038350"/>
            <a:ext cx="15716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Study Sessions</a:t>
            </a:r>
          </a:p>
        </p:txBody>
      </p:sp>
      <p:sp>
        <p:nvSpPr>
          <p:cNvPr id="25" name="Rectangle 24"/>
          <p:cNvSpPr>
            <a:spLocks noGrp="1"/>
          </p:cNvSpPr>
          <p:nvPr/>
        </p:nvSpPr>
        <p:spPr>
          <a:xfrm>
            <a:off x="8496300" y="1971675"/>
            <a:ext cx="2838450" cy="619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4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3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Propose, confirm, complete, and rate sessions</a:t>
            </a:r>
          </a:p>
        </p:txBody>
      </p:sp>
      <p:sp>
        <p:nvSpPr>
          <p:cNvPr id="26" name="Rectangle: Rounded Corners 25"/>
          <p:cNvSpPr>
            <a:spLocks noGrp="1"/>
          </p:cNvSpPr>
          <p:nvPr/>
        </p:nvSpPr>
        <p:spPr>
          <a:xfrm>
            <a:off x="6705600" y="2647950"/>
            <a:ext cx="4610098" cy="495300"/>
          </a:xfrm>
          <a:prstGeom prst="roundRect">
            <a:avLst>
              <a:gd name="adj" fmla="val 15385"/>
            </a:avLst>
          </a:prstGeom>
          <a:solidFill>
            <a:srgbClr val="EFE8DA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6858000" y="2676525"/>
            <a:ext cx="15716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300" b="1" dirty="0">
                <a:solidFill>
                  <a:srgbClr val="0B7285"/>
                </a:solidFill>
                <a:latin typeface="Aptos"/>
                <a:ea typeface="Aptos"/>
                <a:cs typeface="Aptos"/>
              </a:rPr>
              <a:t>Group Study Rooms</a:t>
            </a:r>
          </a:p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8496300" y="2676525"/>
            <a:ext cx="268605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4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3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Create/join room-based group learning</a:t>
            </a:r>
          </a:p>
        </p:txBody>
      </p:sp>
      <p:sp>
        <p:nvSpPr>
          <p:cNvPr id="29" name="Rectangle: Rounded Corners 28"/>
          <p:cNvSpPr>
            <a:spLocks noGrp="1"/>
          </p:cNvSpPr>
          <p:nvPr/>
        </p:nvSpPr>
        <p:spPr>
          <a:xfrm>
            <a:off x="6705600" y="3333750"/>
            <a:ext cx="4610098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 29"/>
          <p:cNvSpPr>
            <a:spLocks noGrp="1"/>
          </p:cNvSpPr>
          <p:nvPr/>
        </p:nvSpPr>
        <p:spPr>
          <a:xfrm>
            <a:off x="6858000" y="3409950"/>
            <a:ext cx="15716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Chat</a:t>
            </a:r>
          </a:p>
        </p:txBody>
      </p:sp>
      <p:sp>
        <p:nvSpPr>
          <p:cNvPr id="31" name="Rectangle 30"/>
          <p:cNvSpPr>
            <a:spLocks noGrp="1"/>
          </p:cNvSpPr>
          <p:nvPr/>
        </p:nvSpPr>
        <p:spPr>
          <a:xfrm>
            <a:off x="8496300" y="3352800"/>
            <a:ext cx="2381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4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3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Connected students can message safely</a:t>
            </a:r>
          </a:p>
        </p:txBody>
      </p:sp>
      <p:sp>
        <p:nvSpPr>
          <p:cNvPr id="32" name="Rectangle: Rounded Corners 31"/>
          <p:cNvSpPr>
            <a:spLocks noGrp="1"/>
          </p:cNvSpPr>
          <p:nvPr/>
        </p:nvSpPr>
        <p:spPr>
          <a:xfrm>
            <a:off x="6705599" y="4019550"/>
            <a:ext cx="4600573" cy="495300"/>
          </a:xfrm>
          <a:prstGeom prst="roundRect">
            <a:avLst>
              <a:gd name="adj" fmla="val 15385"/>
            </a:avLst>
          </a:prstGeom>
          <a:solidFill>
            <a:srgbClr val="EFE8DA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Rectangle 32"/>
          <p:cNvSpPr>
            <a:spLocks noGrp="1"/>
          </p:cNvSpPr>
          <p:nvPr/>
        </p:nvSpPr>
        <p:spPr>
          <a:xfrm>
            <a:off x="6858000" y="4095750"/>
            <a:ext cx="15716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Admin Panel</a:t>
            </a:r>
          </a:p>
        </p:txBody>
      </p:sp>
      <p:sp>
        <p:nvSpPr>
          <p:cNvPr id="34" name="Rectangle 33"/>
          <p:cNvSpPr>
            <a:spLocks noGrp="1"/>
          </p:cNvSpPr>
          <p:nvPr/>
        </p:nvSpPr>
        <p:spPr>
          <a:xfrm>
            <a:off x="8429625" y="4045783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4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3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User management, stats, moderation</a:t>
            </a:r>
          </a:p>
        </p:txBody>
      </p:sp>
      <p:sp>
        <p:nvSpPr>
          <p:cNvPr id="35" name="Rectangle: Rounded Corners 34"/>
          <p:cNvSpPr>
            <a:spLocks noGrp="1"/>
          </p:cNvSpPr>
          <p:nvPr/>
        </p:nvSpPr>
        <p:spPr>
          <a:xfrm>
            <a:off x="6705600" y="4705350"/>
            <a:ext cx="4600572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Rectangle 35"/>
          <p:cNvSpPr>
            <a:spLocks noGrp="1"/>
          </p:cNvSpPr>
          <p:nvPr/>
        </p:nvSpPr>
        <p:spPr>
          <a:xfrm>
            <a:off x="6858000" y="4781550"/>
            <a:ext cx="15716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Pomodoro Timer</a:t>
            </a:r>
          </a:p>
        </p:txBody>
      </p:sp>
      <p:sp>
        <p:nvSpPr>
          <p:cNvPr id="37" name="Rectangle 36"/>
          <p:cNvSpPr>
            <a:spLocks noGrp="1"/>
          </p:cNvSpPr>
          <p:nvPr/>
        </p:nvSpPr>
        <p:spPr>
          <a:xfrm>
            <a:off x="8496300" y="4742045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4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3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25-minute focus timer plus brain-break game</a:t>
            </a:r>
          </a:p>
        </p:txBody>
      </p:sp>
      <p:sp>
        <p:nvSpPr>
          <p:cNvPr id="38" name="Rectangle 37"/>
          <p:cNvSpPr>
            <a:spLocks noGrp="1"/>
          </p:cNvSpPr>
          <p:nvPr/>
        </p:nvSpPr>
        <p:spPr>
          <a:xfrm>
            <a:off x="5905500" y="1790700"/>
            <a:ext cx="9525" cy="3714750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Rectangle 38"/>
          <p:cNvSpPr>
            <a:spLocks noGrp="1"/>
          </p:cNvSpPr>
          <p:nvPr/>
        </p:nvSpPr>
        <p:spPr>
          <a:xfrm>
            <a:off x="400050" y="6362700"/>
            <a:ext cx="590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750" b="1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INAI | Smart Study Partner &amp; Roommate Matching System</a:t>
            </a: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9450" y="202301"/>
            <a:ext cx="1242873" cy="3764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307103-DA19-0183-DE67-7536F2738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6690184-4702-D487-275E-3923EFA7A5C8}"/>
              </a:ext>
            </a:extLst>
          </p:cNvPr>
          <p:cNvSpPr txBox="1"/>
          <p:nvPr/>
        </p:nvSpPr>
        <p:spPr>
          <a:xfrm>
            <a:off x="0" y="614597"/>
            <a:ext cx="1903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Dashboard: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7352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79F409-FC48-4904-DAC7-5DC698E4F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9C588B0-5B6E-8316-CAD3-55074F6CF6C6}"/>
              </a:ext>
            </a:extLst>
          </p:cNvPr>
          <p:cNvSpPr txBox="1"/>
          <p:nvPr/>
        </p:nvSpPr>
        <p:spPr>
          <a:xfrm>
            <a:off x="119922" y="134912"/>
            <a:ext cx="1903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Quick Match: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8684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92EFE9-A791-B517-0240-D5039EBD4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9F239DA-DEB3-E57B-DB58-AE65C76B5440}"/>
              </a:ext>
            </a:extLst>
          </p:cNvPr>
          <p:cNvSpPr txBox="1"/>
          <p:nvPr/>
        </p:nvSpPr>
        <p:spPr>
          <a:xfrm>
            <a:off x="119922" y="134912"/>
            <a:ext cx="1903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Hostel Map: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1420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9C7794-130A-EA29-883F-CFDFE52B3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C24856-D0EF-22A3-8737-584C62324206}"/>
              </a:ext>
            </a:extLst>
          </p:cNvPr>
          <p:cNvSpPr txBox="1"/>
          <p:nvPr/>
        </p:nvSpPr>
        <p:spPr>
          <a:xfrm>
            <a:off x="0" y="629587"/>
            <a:ext cx="1903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Session Page: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633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8D2C7C-0AA3-735B-24D7-575BBD411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0F6AAA-95E7-0F01-CAB9-99A07AC94075}"/>
              </a:ext>
            </a:extLst>
          </p:cNvPr>
          <p:cNvSpPr txBox="1"/>
          <p:nvPr/>
        </p:nvSpPr>
        <p:spPr>
          <a:xfrm>
            <a:off x="119922" y="134912"/>
            <a:ext cx="1903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Study Rooms: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24631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178563-7848-4C53-5906-3B71220C7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97B9ABD-1B10-1303-11A3-53835C49A27B}"/>
              </a:ext>
            </a:extLst>
          </p:cNvPr>
          <p:cNvSpPr txBox="1"/>
          <p:nvPr/>
        </p:nvSpPr>
        <p:spPr>
          <a:xfrm>
            <a:off x="0" y="629588"/>
            <a:ext cx="1903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Request Page: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867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kicker-6-label"/>
          <p:cNvSpPr>
            <a:spLocks noGrp="1"/>
          </p:cNvSpPr>
          <p:nvPr/>
        </p:nvSpPr>
        <p:spPr>
          <a:xfrm>
            <a:off x="552450" y="323850"/>
            <a:ext cx="1952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050" b="1" dirty="0">
                <a:solidFill>
                  <a:srgbClr val="0F7A5A"/>
                </a:solidFill>
                <a:latin typeface="Aptos"/>
                <a:ea typeface="Aptos"/>
                <a:cs typeface="Aptos"/>
              </a:rPr>
              <a:t>TESTING</a:t>
            </a:r>
          </a:p>
        </p:txBody>
      </p:sp>
      <p:sp>
        <p:nvSpPr>
          <p:cNvPr id="2" name="kicker-6-marker"/>
          <p:cNvSpPr>
            <a:spLocks noGrp="1"/>
          </p:cNvSpPr>
          <p:nvPr/>
        </p:nvSpPr>
        <p:spPr>
          <a:xfrm>
            <a:off x="400050" y="390525"/>
            <a:ext cx="76200" cy="76200"/>
          </a:xfrm>
          <a:prstGeom prst="ellipse">
            <a:avLst/>
          </a:prstGeom>
          <a:solidFill>
            <a:srgbClr val="0F7A5A"/>
          </a:solidFill>
          <a:ln w="0">
            <a:solidFill>
              <a:srgbClr val="0F7A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400050" y="590550"/>
            <a:ext cx="113919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dirty="0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The system passed validation across matching, privacy, security, and performance.</a:t>
            </a: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400050" y="1181100"/>
            <a:ext cx="113919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0991850" y="63817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Rectangle: Rounded Corners 5"/>
          <p:cNvSpPr>
            <a:spLocks noGrp="1"/>
          </p:cNvSpPr>
          <p:nvPr/>
        </p:nvSpPr>
        <p:spPr>
          <a:xfrm>
            <a:off x="514350" y="1504950"/>
            <a:ext cx="1866900" cy="1123950"/>
          </a:xfrm>
          <a:prstGeom prst="roundRect">
            <a:avLst>
              <a:gd name="adj" fmla="val 6780"/>
            </a:avLst>
          </a:prstGeom>
          <a:solidFill>
            <a:srgbClr val="102019"/>
          </a:solidFill>
          <a:ln w="9525">
            <a:solidFill>
              <a:srgbClr val="10201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628650" y="1657350"/>
            <a:ext cx="1619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2325" b="1">
                <a:solidFill>
                  <a:srgbClr val="9FE3C8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9FE3C8"/>
                </a:solidFill>
                <a:latin typeface="Aptos"/>
                <a:ea typeface="Aptos"/>
                <a:cs typeface="Aptos"/>
              </a:rPr>
              <a:t>46</a:t>
            </a: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28650" y="20764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test cases</a:t>
            </a: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628650" y="23050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825" b="0">
                <a:solidFill>
                  <a:srgbClr val="DDE8DE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DDE8DE"/>
                </a:solidFill>
                <a:latin typeface="Aptos"/>
                <a:ea typeface="Aptos"/>
                <a:cs typeface="Aptos"/>
              </a:rPr>
              <a:t>All passed</a:t>
            </a:r>
          </a:p>
        </p:txBody>
      </p:sp>
      <p:sp>
        <p:nvSpPr>
          <p:cNvPr id="10" name="Rectangle: Rounded Corners 9"/>
          <p:cNvSpPr>
            <a:spLocks noGrp="1"/>
          </p:cNvSpPr>
          <p:nvPr/>
        </p:nvSpPr>
        <p:spPr>
          <a:xfrm>
            <a:off x="2762250" y="1504950"/>
            <a:ext cx="1866900" cy="1123950"/>
          </a:xfrm>
          <a:prstGeom prst="roundRect">
            <a:avLst>
              <a:gd name="adj" fmla="val 6780"/>
            </a:avLst>
          </a:prstGeom>
          <a:solidFill>
            <a:srgbClr val="102019"/>
          </a:solidFill>
          <a:ln w="9525">
            <a:solidFill>
              <a:srgbClr val="10201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2876550" y="1657350"/>
            <a:ext cx="1619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2325" b="1">
                <a:solidFill>
                  <a:srgbClr val="9FE3C8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9FE3C8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2876550" y="20764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gender safety</a:t>
            </a: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2762250" y="2305050"/>
            <a:ext cx="1866900" cy="485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825" b="0">
                <a:solidFill>
                  <a:srgbClr val="DDE8DE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DDE8DE"/>
                </a:solidFill>
                <a:latin typeface="Aptos"/>
                <a:ea typeface="Aptos"/>
                <a:cs typeface="Aptos"/>
              </a:rPr>
              <a:t>Same-hostel/gender scope</a:t>
            </a:r>
          </a:p>
        </p:txBody>
      </p:sp>
      <p:sp>
        <p:nvSpPr>
          <p:cNvPr id="14" name="Rectangle: Rounded Corners 13"/>
          <p:cNvSpPr>
            <a:spLocks noGrp="1"/>
          </p:cNvSpPr>
          <p:nvPr/>
        </p:nvSpPr>
        <p:spPr>
          <a:xfrm>
            <a:off x="5010150" y="1504950"/>
            <a:ext cx="1866900" cy="1123950"/>
          </a:xfrm>
          <a:prstGeom prst="roundRect">
            <a:avLst>
              <a:gd name="adj" fmla="val 6780"/>
            </a:avLst>
          </a:prstGeom>
          <a:solidFill>
            <a:srgbClr val="102019"/>
          </a:solidFill>
          <a:ln w="9525">
            <a:solidFill>
              <a:srgbClr val="10201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5124450" y="1657350"/>
            <a:ext cx="1619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2325" b="1">
                <a:solidFill>
                  <a:srgbClr val="9FE3C8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9FE3C8"/>
                </a:solidFill>
                <a:latin typeface="Aptos"/>
                <a:ea typeface="Aptos"/>
                <a:cs typeface="Aptos"/>
              </a:rPr>
              <a:t>&lt;1.5s</a:t>
            </a: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5124450" y="20764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page load</a:t>
            </a: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5124450" y="23050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825" b="0">
                <a:solidFill>
                  <a:srgbClr val="DDE8DE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DDE8DE"/>
                </a:solidFill>
                <a:latin typeface="Aptos"/>
                <a:ea typeface="Aptos"/>
                <a:cs typeface="Aptos"/>
              </a:rPr>
              <a:t>Local network pages</a:t>
            </a:r>
          </a:p>
        </p:txBody>
      </p:sp>
      <p:sp>
        <p:nvSpPr>
          <p:cNvPr id="18" name="Rectangle: Rounded Corners 17"/>
          <p:cNvSpPr>
            <a:spLocks noGrp="1"/>
          </p:cNvSpPr>
          <p:nvPr/>
        </p:nvSpPr>
        <p:spPr>
          <a:xfrm>
            <a:off x="7258050" y="1504950"/>
            <a:ext cx="1866900" cy="1123950"/>
          </a:xfrm>
          <a:prstGeom prst="roundRect">
            <a:avLst>
              <a:gd name="adj" fmla="val 6780"/>
            </a:avLst>
          </a:prstGeom>
          <a:solidFill>
            <a:srgbClr val="102019"/>
          </a:solidFill>
          <a:ln w="9525">
            <a:solidFill>
              <a:srgbClr val="10201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7372350" y="1657350"/>
            <a:ext cx="1619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2325" b="1">
                <a:solidFill>
                  <a:srgbClr val="9FE3C8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9FE3C8"/>
                </a:solidFill>
                <a:latin typeface="Aptos"/>
                <a:ea typeface="Aptos"/>
                <a:cs typeface="Aptos"/>
              </a:rPr>
              <a:t>&lt;200ms</a:t>
            </a: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7372350" y="20764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API average</a:t>
            </a: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7372350" y="23050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825" b="0">
                <a:solidFill>
                  <a:srgbClr val="DDE8DE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DDE8DE"/>
                </a:solidFill>
                <a:latin typeface="Aptos"/>
                <a:ea typeface="Aptos"/>
                <a:cs typeface="Aptos"/>
              </a:rPr>
              <a:t>Backend response</a:t>
            </a:r>
          </a:p>
        </p:txBody>
      </p:sp>
      <p:sp>
        <p:nvSpPr>
          <p:cNvPr id="22" name="Rectangle: Rounded Corners 21"/>
          <p:cNvSpPr>
            <a:spLocks noGrp="1"/>
          </p:cNvSpPr>
          <p:nvPr/>
        </p:nvSpPr>
        <p:spPr>
          <a:xfrm>
            <a:off x="9505950" y="1504950"/>
            <a:ext cx="1866900" cy="1123950"/>
          </a:xfrm>
          <a:prstGeom prst="roundRect">
            <a:avLst>
              <a:gd name="adj" fmla="val 6780"/>
            </a:avLst>
          </a:prstGeom>
          <a:solidFill>
            <a:srgbClr val="102019"/>
          </a:solidFill>
          <a:ln w="9525">
            <a:solidFill>
              <a:srgbClr val="10201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9620250" y="1657350"/>
            <a:ext cx="1619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2325" b="1">
                <a:solidFill>
                  <a:srgbClr val="F6E7C4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6E7C4"/>
                </a:solidFill>
                <a:latin typeface="Aptos"/>
                <a:ea typeface="Aptos"/>
                <a:cs typeface="Aptos"/>
              </a:rPr>
              <a:t>PBKDF2</a:t>
            </a: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9620250" y="20764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security</a:t>
            </a:r>
          </a:p>
        </p:txBody>
      </p:sp>
      <p:sp>
        <p:nvSpPr>
          <p:cNvPr id="25" name="Rectangle 24"/>
          <p:cNvSpPr>
            <a:spLocks noGrp="1"/>
          </p:cNvSpPr>
          <p:nvPr/>
        </p:nvSpPr>
        <p:spPr>
          <a:xfrm>
            <a:off x="9620250" y="23050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825" b="0">
                <a:solidFill>
                  <a:srgbClr val="DDE8DE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DDE8DE"/>
                </a:solidFill>
                <a:latin typeface="Aptos"/>
                <a:ea typeface="Aptos"/>
                <a:cs typeface="Aptos"/>
              </a:rPr>
              <a:t>120,000 iterations</a:t>
            </a:r>
          </a:p>
        </p:txBody>
      </p:sp>
      <p:sp>
        <p:nvSpPr>
          <p:cNvPr id="26" name="Rectangle 25"/>
          <p:cNvSpPr>
            <a:spLocks noGrp="1"/>
          </p:cNvSpPr>
          <p:nvPr/>
        </p:nvSpPr>
        <p:spPr>
          <a:xfrm>
            <a:off x="933450" y="3238500"/>
            <a:ext cx="180975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Matching logic</a:t>
            </a:r>
          </a:p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2952750" y="3238500"/>
            <a:ext cx="581025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3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Quick, Preference, Roommate ranking; gender defaults</a:t>
            </a:r>
          </a:p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8953500" y="3238500"/>
            <a:ext cx="11430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05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29" name="Rectangle 28"/>
          <p:cNvSpPr>
            <a:spLocks noGrp="1"/>
          </p:cNvSpPr>
          <p:nvPr/>
        </p:nvSpPr>
        <p:spPr>
          <a:xfrm>
            <a:off x="933450" y="3657600"/>
            <a:ext cx="180975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Privacy</a:t>
            </a:r>
          </a:p>
        </p:txBody>
      </p:sp>
      <p:sp>
        <p:nvSpPr>
          <p:cNvPr id="30" name="Rectangle 29"/>
          <p:cNvSpPr>
            <a:spLocks noGrp="1"/>
          </p:cNvSpPr>
          <p:nvPr/>
        </p:nvSpPr>
        <p:spPr>
          <a:xfrm>
            <a:off x="2952750" y="3657600"/>
            <a:ext cx="581025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3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Names/rooms hidden until mutual accept</a:t>
            </a:r>
          </a:p>
        </p:txBody>
      </p:sp>
      <p:sp>
        <p:nvSpPr>
          <p:cNvPr id="31" name="Rectangle 30"/>
          <p:cNvSpPr>
            <a:spLocks noGrp="1"/>
          </p:cNvSpPr>
          <p:nvPr/>
        </p:nvSpPr>
        <p:spPr>
          <a:xfrm>
            <a:off x="8953500" y="3657600"/>
            <a:ext cx="114300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05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32" name="Rectangle 31"/>
          <p:cNvSpPr>
            <a:spLocks noGrp="1"/>
          </p:cNvSpPr>
          <p:nvPr/>
        </p:nvSpPr>
        <p:spPr>
          <a:xfrm>
            <a:off x="933450" y="4076700"/>
            <a:ext cx="180975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Security</a:t>
            </a:r>
          </a:p>
        </p:txBody>
      </p:sp>
      <p:sp>
        <p:nvSpPr>
          <p:cNvPr id="33" name="Rectangle 32"/>
          <p:cNvSpPr>
            <a:spLocks noGrp="1"/>
          </p:cNvSpPr>
          <p:nvPr/>
        </p:nvSpPr>
        <p:spPr>
          <a:xfrm>
            <a:off x="2952750" y="4076700"/>
            <a:ext cx="581025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3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PBKDF2, HMAC tokens, admin route isolation, rate limit</a:t>
            </a:r>
          </a:p>
        </p:txBody>
      </p:sp>
      <p:sp>
        <p:nvSpPr>
          <p:cNvPr id="34" name="Rectangle 33"/>
          <p:cNvSpPr>
            <a:spLocks noGrp="1"/>
          </p:cNvSpPr>
          <p:nvPr/>
        </p:nvSpPr>
        <p:spPr>
          <a:xfrm>
            <a:off x="8953500" y="4076700"/>
            <a:ext cx="11430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05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35" name="Rectangle 34"/>
          <p:cNvSpPr>
            <a:spLocks noGrp="1"/>
          </p:cNvSpPr>
          <p:nvPr/>
        </p:nvSpPr>
        <p:spPr>
          <a:xfrm>
            <a:off x="933450" y="4495800"/>
            <a:ext cx="180975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Integration</a:t>
            </a:r>
          </a:p>
        </p:txBody>
      </p:sp>
      <p:sp>
        <p:nvSpPr>
          <p:cNvPr id="36" name="Rectangle 35"/>
          <p:cNvSpPr>
            <a:spLocks noGrp="1"/>
          </p:cNvSpPr>
          <p:nvPr/>
        </p:nvSpPr>
        <p:spPr>
          <a:xfrm>
            <a:off x="2952750" y="4495800"/>
            <a:ext cx="581025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3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Users, requests, sessions, chat, rooms, admin delete cascade</a:t>
            </a:r>
          </a:p>
        </p:txBody>
      </p:sp>
      <p:sp>
        <p:nvSpPr>
          <p:cNvPr id="37" name="Rectangle 36"/>
          <p:cNvSpPr>
            <a:spLocks noGrp="1"/>
          </p:cNvSpPr>
          <p:nvPr/>
        </p:nvSpPr>
        <p:spPr>
          <a:xfrm>
            <a:off x="8953500" y="4495800"/>
            <a:ext cx="114300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05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38" name="Rectangle 37"/>
          <p:cNvSpPr>
            <a:spLocks noGrp="1"/>
          </p:cNvSpPr>
          <p:nvPr/>
        </p:nvSpPr>
        <p:spPr>
          <a:xfrm>
            <a:off x="933450" y="4914900"/>
            <a:ext cx="180975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Bugs fixed</a:t>
            </a:r>
          </a:p>
        </p:txBody>
      </p:sp>
      <p:sp>
        <p:nvSpPr>
          <p:cNvPr id="39" name="Rectangle 38"/>
          <p:cNvSpPr>
            <a:spLocks noGrp="1"/>
          </p:cNvSpPr>
          <p:nvPr/>
        </p:nvSpPr>
        <p:spPr>
          <a:xfrm>
            <a:off x="2952750" y="4914900"/>
            <a:ext cx="581025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3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6 issues including request stub, room stripping, map scope</a:t>
            </a:r>
          </a:p>
        </p:txBody>
      </p:sp>
      <p:sp>
        <p:nvSpPr>
          <p:cNvPr id="40" name="Rectangle 39"/>
          <p:cNvSpPr>
            <a:spLocks noGrp="1"/>
          </p:cNvSpPr>
          <p:nvPr/>
        </p:nvSpPr>
        <p:spPr>
          <a:xfrm>
            <a:off x="8953500" y="4914900"/>
            <a:ext cx="11430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05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Closed</a:t>
            </a:r>
          </a:p>
        </p:txBody>
      </p:sp>
      <p:sp>
        <p:nvSpPr>
          <p:cNvPr id="41" name="Rectangle 40"/>
          <p:cNvSpPr>
            <a:spLocks noGrp="1"/>
          </p:cNvSpPr>
          <p:nvPr/>
        </p:nvSpPr>
        <p:spPr>
          <a:xfrm>
            <a:off x="400050" y="6362700"/>
            <a:ext cx="590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750" b="1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Testing evidence from INAI lab record and implemented modules</a:t>
            </a:r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9450" y="202301"/>
            <a:ext cx="1242873" cy="37644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F15303-2573-F2A6-6876-3FD361B2C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65F7FDE-2917-FD39-D9B6-8C5131879833}"/>
              </a:ext>
            </a:extLst>
          </p:cNvPr>
          <p:cNvSpPr txBox="1"/>
          <p:nvPr/>
        </p:nvSpPr>
        <p:spPr>
          <a:xfrm>
            <a:off x="119922" y="134912"/>
            <a:ext cx="1903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Admin Page: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86634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79C0E7-1C23-DC20-A5F0-D89AE4D2E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8610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kicker-7-label"/>
          <p:cNvSpPr>
            <a:spLocks noGrp="1"/>
          </p:cNvSpPr>
          <p:nvPr/>
        </p:nvSpPr>
        <p:spPr>
          <a:xfrm>
            <a:off x="552450" y="323850"/>
            <a:ext cx="1952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050" b="1" dirty="0">
                <a:solidFill>
                  <a:srgbClr val="0F7A5A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2" name="kicker-7-marker"/>
          <p:cNvSpPr>
            <a:spLocks noGrp="1"/>
          </p:cNvSpPr>
          <p:nvPr/>
        </p:nvSpPr>
        <p:spPr>
          <a:xfrm>
            <a:off x="400050" y="390525"/>
            <a:ext cx="76200" cy="76200"/>
          </a:xfrm>
          <a:prstGeom prst="ellipse">
            <a:avLst/>
          </a:prstGeom>
          <a:solidFill>
            <a:srgbClr val="0F7A5A"/>
          </a:solidFill>
          <a:ln w="0">
            <a:solidFill>
              <a:srgbClr val="0F7A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400050" y="590550"/>
            <a:ext cx="10841324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dirty="0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INAI is no longer just a prototype; it is a tested campus-ready web system.</a:t>
            </a: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400050" y="1181100"/>
            <a:ext cx="113919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0991850" y="63817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666750" y="14287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575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575" b="1" dirty="0">
                <a:solidFill>
                  <a:srgbClr val="0F7A5A"/>
                </a:solidFill>
                <a:latin typeface="Aptos"/>
                <a:ea typeface="Aptos"/>
                <a:cs typeface="Aptos"/>
              </a:rPr>
              <a:t>What we built vs future version</a:t>
            </a: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723900" y="1809750"/>
            <a:ext cx="2476500" cy="266700"/>
          </a:xfrm>
          <a:prstGeom prst="rect">
            <a:avLst/>
          </a:prstGeom>
          <a:solidFill>
            <a:srgbClr val="0F7A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Built now</a:t>
            </a: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3333750" y="1809750"/>
            <a:ext cx="2667000" cy="266700"/>
          </a:xfrm>
          <a:prstGeom prst="rect">
            <a:avLst/>
          </a:prstGeom>
          <a:solidFill>
            <a:srgbClr val="0B72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Future version</a:t>
            </a: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723900" y="2228850"/>
            <a:ext cx="24765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150" b="1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MongoDB-backed student profiles</a:t>
            </a: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3333750" y="2228850"/>
            <a:ext cx="26670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15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College email OTP verification</a:t>
            </a: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723900" y="2647950"/>
            <a:ext cx="247650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150" b="1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Gender-safe matching and hostel map</a:t>
            </a: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3333750" y="2647950"/>
            <a:ext cx="266700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15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Authority-approved hostel integration</a:t>
            </a: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723900" y="3067050"/>
            <a:ext cx="24765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15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Room reveal only after mutual accept</a:t>
            </a: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3333750" y="3067050"/>
            <a:ext cx="26670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15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Reputation and helper leaderboard</a:t>
            </a: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723900" y="3486150"/>
            <a:ext cx="247650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15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Polling chat and notifications</a:t>
            </a: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3333750" y="3486150"/>
            <a:ext cx="266700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15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WebSocket real-time updates</a:t>
            </a: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723900" y="3905250"/>
            <a:ext cx="24765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15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Browser web app</a:t>
            </a: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3333750" y="3905250"/>
            <a:ext cx="26670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15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PWA with push notifications</a:t>
            </a: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6858000" y="142875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57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Future scope</a:t>
            </a:r>
          </a:p>
        </p:txBody>
      </p:sp>
      <p:sp>
        <p:nvSpPr>
          <p:cNvPr id="20" name="Rectangle: Rounded Corners 19"/>
          <p:cNvSpPr>
            <a:spLocks noGrp="1"/>
          </p:cNvSpPr>
          <p:nvPr/>
        </p:nvSpPr>
        <p:spPr>
          <a:xfrm>
            <a:off x="6858000" y="1809750"/>
            <a:ext cx="39052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7010400" y="1876425"/>
            <a:ext cx="1200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WebSocket</a:t>
            </a: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8210550" y="1876424"/>
            <a:ext cx="2647950" cy="54292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4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Real-time chat and live map status</a:t>
            </a:r>
          </a:p>
        </p:txBody>
      </p:sp>
      <p:sp>
        <p:nvSpPr>
          <p:cNvPr id="23" name="Rectangle: Rounded Corners 22"/>
          <p:cNvSpPr>
            <a:spLocks noGrp="1"/>
          </p:cNvSpPr>
          <p:nvPr/>
        </p:nvSpPr>
        <p:spPr>
          <a:xfrm>
            <a:off x="6858000" y="2381250"/>
            <a:ext cx="39052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7010400" y="2447925"/>
            <a:ext cx="1200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1">
                <a:solidFill>
                  <a:srgbClr val="B8791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87916"/>
                </a:solidFill>
                <a:latin typeface="Aptos"/>
                <a:ea typeface="Aptos"/>
                <a:cs typeface="Aptos"/>
              </a:rPr>
              <a:t>PWA</a:t>
            </a:r>
          </a:p>
        </p:txBody>
      </p:sp>
      <p:sp>
        <p:nvSpPr>
          <p:cNvPr id="25" name="Rectangle 24"/>
          <p:cNvSpPr>
            <a:spLocks noGrp="1"/>
          </p:cNvSpPr>
          <p:nvPr/>
        </p:nvSpPr>
        <p:spPr>
          <a:xfrm>
            <a:off x="8210550" y="2389968"/>
            <a:ext cx="25527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4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Mobile install, offline shell, push alerts</a:t>
            </a:r>
          </a:p>
        </p:txBody>
      </p:sp>
      <p:sp>
        <p:nvSpPr>
          <p:cNvPr id="26" name="Rectangle: Rounded Corners 25"/>
          <p:cNvSpPr>
            <a:spLocks noGrp="1"/>
          </p:cNvSpPr>
          <p:nvPr/>
        </p:nvSpPr>
        <p:spPr>
          <a:xfrm>
            <a:off x="6858000" y="2952750"/>
            <a:ext cx="39052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7010400" y="3019425"/>
            <a:ext cx="1200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1">
                <a:solidFill>
                  <a:srgbClr val="5B3A7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B3A70"/>
                </a:solidFill>
                <a:latin typeface="Aptos"/>
                <a:ea typeface="Aptos"/>
                <a:cs typeface="Aptos"/>
              </a:rPr>
              <a:t>AI Matching</a:t>
            </a:r>
          </a:p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8210550" y="2943225"/>
            <a:ext cx="278130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4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Learn from ratings and session outcomes</a:t>
            </a:r>
          </a:p>
        </p:txBody>
      </p:sp>
      <p:sp>
        <p:nvSpPr>
          <p:cNvPr id="29" name="Rectangle: Rounded Corners 28"/>
          <p:cNvSpPr>
            <a:spLocks noGrp="1"/>
          </p:cNvSpPr>
          <p:nvPr/>
        </p:nvSpPr>
        <p:spPr>
          <a:xfrm>
            <a:off x="6858000" y="3524250"/>
            <a:ext cx="39052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 29"/>
          <p:cNvSpPr>
            <a:spLocks noGrp="1"/>
          </p:cNvSpPr>
          <p:nvPr/>
        </p:nvSpPr>
        <p:spPr>
          <a:xfrm>
            <a:off x="7010400" y="3533775"/>
            <a:ext cx="1200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1">
                <a:solidFill>
                  <a:srgbClr val="C4493D"/>
                </a:solidFill>
                <a:latin typeface="Aptos"/>
                <a:ea typeface="Aptos"/>
                <a:cs typeface="Aptos"/>
              </a:defRPr>
            </a:pPr>
            <a:r>
              <a:rPr sz="1050" b="1" dirty="0">
                <a:solidFill>
                  <a:srgbClr val="C4493D"/>
                </a:solidFill>
                <a:latin typeface="Aptos"/>
                <a:ea typeface="Aptos"/>
                <a:cs typeface="Aptos"/>
              </a:rPr>
              <a:t>Authority Integration</a:t>
            </a:r>
          </a:p>
        </p:txBody>
      </p:sp>
      <p:sp>
        <p:nvSpPr>
          <p:cNvPr id="31" name="Rectangle 30"/>
          <p:cNvSpPr>
            <a:spLocks noGrp="1"/>
          </p:cNvSpPr>
          <p:nvPr/>
        </p:nvSpPr>
        <p:spPr>
          <a:xfrm>
            <a:off x="8210550" y="3526672"/>
            <a:ext cx="228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4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Verified hostel and admin workflows</a:t>
            </a:r>
          </a:p>
        </p:txBody>
      </p:sp>
      <p:sp>
        <p:nvSpPr>
          <p:cNvPr id="32" name="Rectangle: Rounded Corners 31"/>
          <p:cNvSpPr>
            <a:spLocks noGrp="1"/>
          </p:cNvSpPr>
          <p:nvPr/>
        </p:nvSpPr>
        <p:spPr>
          <a:xfrm>
            <a:off x="6858000" y="4095750"/>
            <a:ext cx="39052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Rectangle 32"/>
          <p:cNvSpPr>
            <a:spLocks noGrp="1"/>
          </p:cNvSpPr>
          <p:nvPr/>
        </p:nvSpPr>
        <p:spPr>
          <a:xfrm>
            <a:off x="7010400" y="4162425"/>
            <a:ext cx="1200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Multi-language</a:t>
            </a:r>
          </a:p>
        </p:txBody>
      </p:sp>
      <p:sp>
        <p:nvSpPr>
          <p:cNvPr id="34" name="Rectangle 33"/>
          <p:cNvSpPr>
            <a:spLocks noGrp="1"/>
          </p:cNvSpPr>
          <p:nvPr/>
        </p:nvSpPr>
        <p:spPr>
          <a:xfrm>
            <a:off x="8210550" y="4068951"/>
            <a:ext cx="228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4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Tamil/English support for broader access</a:t>
            </a:r>
          </a:p>
        </p:txBody>
      </p:sp>
      <p:sp>
        <p:nvSpPr>
          <p:cNvPr id="35" name="Rectangle 34"/>
          <p:cNvSpPr>
            <a:spLocks noGrp="1"/>
          </p:cNvSpPr>
          <p:nvPr/>
        </p:nvSpPr>
        <p:spPr>
          <a:xfrm>
            <a:off x="1066800" y="5619750"/>
            <a:ext cx="9144000" cy="495300"/>
          </a:xfrm>
          <a:prstGeom prst="rect">
            <a:avLst/>
          </a:prstGeom>
          <a:solidFill>
            <a:srgbClr val="102019"/>
          </a:solidFill>
          <a:ln w="0">
            <a:solidFill>
              <a:srgbClr val="10201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Rectangle 35"/>
          <p:cNvSpPr>
            <a:spLocks noGrp="1"/>
          </p:cNvSpPr>
          <p:nvPr/>
        </p:nvSpPr>
        <p:spPr>
          <a:xfrm>
            <a:off x="1214437" y="5657850"/>
            <a:ext cx="88106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800" b="1">
                <a:solidFill>
                  <a:srgbClr val="F6E7C4"/>
                </a:solidFill>
                <a:latin typeface="Aptos"/>
                <a:ea typeface="Aptos"/>
                <a:cs typeface="Aptos"/>
              </a:defRPr>
            </a:pPr>
            <a:r>
              <a:rPr sz="1800" b="1" dirty="0">
                <a:solidFill>
                  <a:srgbClr val="F6E7C4"/>
                </a:solidFill>
                <a:latin typeface="Aptos"/>
                <a:ea typeface="Aptos"/>
                <a:cs typeface="Aptos"/>
              </a:rPr>
              <a:t>"Other apps connect friends. INAI connects knowledge."</a:t>
            </a:r>
          </a:p>
        </p:txBody>
      </p:sp>
      <p:sp>
        <p:nvSpPr>
          <p:cNvPr id="37" name="Rectangle 36"/>
          <p:cNvSpPr>
            <a:spLocks noGrp="1"/>
          </p:cNvSpPr>
          <p:nvPr/>
        </p:nvSpPr>
        <p:spPr>
          <a:xfrm>
            <a:off x="400050" y="6362700"/>
            <a:ext cx="590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750" b="1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INAI | Smart Study Partner &amp; Roommate Matching System</a:t>
            </a:r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9450" y="202301"/>
            <a:ext cx="1242873" cy="37644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831</Words>
  <Application>Microsoft Office PowerPoint</Application>
  <PresentationFormat>Widescreen</PresentationFormat>
  <Paragraphs>197</Paragraphs>
  <Slides>18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MappillaiMeeran A</cp:lastModifiedBy>
  <cp:revision>5</cp:revision>
  <dcterms:created xsi:type="dcterms:W3CDTF">2026-06-08T14:34:00Z</dcterms:created>
  <dcterms:modified xsi:type="dcterms:W3CDTF">2026-06-09T04:44:26Z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50186B1F6F9848CF887FAE8F8C6C49F2_12</vt:lpwstr>
  </property>
  <property fmtid="{D5CDD505-2E9C-101B-9397-08002B2CF9AE}" pid="3" name="KSOProductBuildVer">
    <vt:lpwstr>1033-12.1.0.26880</vt:lpwstr>
  </property>
</Properties>
</file>