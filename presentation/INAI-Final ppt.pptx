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205ECA-B522-4124-8F4F-A778B70B4FA5}" v="7" dt="2026-06-08T17:18:06.0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400" d="100"/>
          <a:sy n="400" d="100"/>
        </p:scale>
        <p:origin x="-25104" y="-78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ppillaiMeeran A" userId="df1ef35d0eadfa24" providerId="LiveId" clId="{88D46C5A-2633-4481-8A4B-5A11211D5E64}"/>
    <pc:docChg chg="undo redo custSel modSld">
      <pc:chgData name="MappillaiMeeran A" userId="df1ef35d0eadfa24" providerId="LiveId" clId="{88D46C5A-2633-4481-8A4B-5A11211D5E64}" dt="2026-06-08T17:22:39.286" v="199" actId="14100"/>
      <pc:docMkLst>
        <pc:docMk/>
      </pc:docMkLst>
      <pc:sldChg chg="modSp mod">
        <pc:chgData name="MappillaiMeeran A" userId="df1ef35d0eadfa24" providerId="LiveId" clId="{88D46C5A-2633-4481-8A4B-5A11211D5E64}" dt="2026-06-08T17:12:43.817" v="128" actId="1035"/>
        <pc:sldMkLst>
          <pc:docMk/>
          <pc:sldMk cId="882871997" sldId="256"/>
        </pc:sldMkLst>
        <pc:spChg chg="mod">
          <ac:chgData name="MappillaiMeeran A" userId="df1ef35d0eadfa24" providerId="LiveId" clId="{88D46C5A-2633-4481-8A4B-5A11211D5E64}" dt="2026-06-08T17:12:37.822" v="125" actId="20577"/>
          <ac:spMkLst>
            <pc:docMk/>
            <pc:sldMk cId="882871997" sldId="256"/>
            <ac:spMk id="5" creationId="{DCF7CD80-0C72-4FE4-AD92-55ED9FCC6754}"/>
          </ac:spMkLst>
        </pc:spChg>
        <pc:spChg chg="mod">
          <ac:chgData name="MappillaiMeeran A" userId="df1ef35d0eadfa24" providerId="LiveId" clId="{88D46C5A-2633-4481-8A4B-5A11211D5E64}" dt="2026-06-08T17:12:43.817" v="128" actId="1035"/>
          <ac:spMkLst>
            <pc:docMk/>
            <pc:sldMk cId="882871997" sldId="256"/>
            <ac:spMk id="18" creationId="{1571CBCF-CDE5-44C3-B135-ABC0FA50024A}"/>
          </ac:spMkLst>
        </pc:spChg>
      </pc:sldChg>
      <pc:sldChg chg="addSp modSp mod">
        <pc:chgData name="MappillaiMeeran A" userId="df1ef35d0eadfa24" providerId="LiveId" clId="{88D46C5A-2633-4481-8A4B-5A11211D5E64}" dt="2026-06-08T17:22:39.286" v="199" actId="14100"/>
        <pc:sldMkLst>
          <pc:docMk/>
          <pc:sldMk cId="1284234553" sldId="257"/>
        </pc:sldMkLst>
        <pc:spChg chg="mod">
          <ac:chgData name="MappillaiMeeran A" userId="df1ef35d0eadfa24" providerId="LiveId" clId="{88D46C5A-2633-4481-8A4B-5A11211D5E64}" dt="2026-06-08T17:13:27.433" v="144" actId="255"/>
          <ac:spMkLst>
            <pc:docMk/>
            <pc:sldMk cId="1284234553" sldId="257"/>
            <ac:spMk id="34" creationId="{6021DE49-8232-4EDB-B2EB-263F8AFCA5DF}"/>
          </ac:spMkLst>
        </pc:spChg>
        <pc:spChg chg="mod">
          <ac:chgData name="MappillaiMeeran A" userId="df1ef35d0eadfa24" providerId="LiveId" clId="{88D46C5A-2633-4481-8A4B-5A11211D5E64}" dt="2026-06-08T17:17:34.597" v="153" actId="20577"/>
          <ac:spMkLst>
            <pc:docMk/>
            <pc:sldMk cId="1284234553" sldId="257"/>
            <ac:spMk id="35" creationId="{80185CC5-2EF8-4914-9499-3ACAAFD68DB5}"/>
          </ac:spMkLst>
        </pc:spChg>
        <pc:spChg chg="mod">
          <ac:chgData name="MappillaiMeeran A" userId="df1ef35d0eadfa24" providerId="LiveId" clId="{88D46C5A-2633-4481-8A4B-5A11211D5E64}" dt="2026-06-08T17:22:39.286" v="199" actId="14100"/>
          <ac:spMkLst>
            <pc:docMk/>
            <pc:sldMk cId="1284234553" sldId="257"/>
            <ac:spMk id="36" creationId="{3811F008-C9EC-44D8-B498-8539CB4F3B4A}"/>
          </ac:spMkLst>
        </pc:spChg>
        <pc:spChg chg="add mod">
          <ac:chgData name="MappillaiMeeran A" userId="df1ef35d0eadfa24" providerId="LiveId" clId="{88D46C5A-2633-4481-8A4B-5A11211D5E64}" dt="2026-06-08T17:12:30.823" v="121"/>
          <ac:spMkLst>
            <pc:docMk/>
            <pc:sldMk cId="1284234553" sldId="257"/>
            <ac:spMk id="50" creationId="{94209310-C433-299B-CC36-134EC0D5C48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571CBCF-CDE5-44C3-B135-ABC0FA50024A}"/>
              </a:ext>
            </a:extLst>
          </p:cNvPr>
          <p:cNvSpPr>
            <a:spLocks noGrp="1"/>
          </p:cNvSpPr>
          <p:nvPr/>
        </p:nvSpPr>
        <p:spPr>
          <a:xfrm>
            <a:off x="0" y="14514"/>
            <a:ext cx="12192000" cy="6858000"/>
          </a:xfrm>
          <a:prstGeom prst="rect">
            <a:avLst/>
          </a:prstGeom>
          <a:solidFill>
            <a:srgbClr val="102019"/>
          </a:solidFill>
          <a:ln w="0">
            <a:solidFill>
              <a:srgbClr val="10201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7ACC48-3A8D-4B1B-8C02-79DF6A26AF1E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4953000" cy="6858000"/>
          </a:xfrm>
          <a:prstGeom prst="rect">
            <a:avLst/>
          </a:prstGeom>
          <a:solidFill>
            <a:srgbClr val="173B31"/>
          </a:solidFill>
          <a:ln w="0">
            <a:solidFill>
              <a:srgbClr val="173B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3D733D-7C30-4F7E-AD76-213749AE1524}"/>
              </a:ext>
            </a:extLst>
          </p:cNvPr>
          <p:cNvSpPr>
            <a:spLocks noGrp="1"/>
          </p:cNvSpPr>
          <p:nvPr/>
        </p:nvSpPr>
        <p:spPr>
          <a:xfrm>
            <a:off x="571500" y="66675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1">
                <a:solidFill>
                  <a:srgbClr val="9FE3C8"/>
                </a:solidFill>
                <a:latin typeface="Aptos"/>
                <a:ea typeface="Aptos"/>
                <a:cs typeface="Aptos"/>
              </a:defRPr>
            </a:pPr>
            <a:r>
              <a:rPr sz="1400" b="1" dirty="0">
                <a:solidFill>
                  <a:srgbClr val="9FE3C8"/>
                </a:solidFill>
                <a:latin typeface="Aptos"/>
                <a:ea typeface="Aptos"/>
                <a:cs typeface="Aptos"/>
              </a:rPr>
              <a:t>MICRO PROJECT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135475-27AF-44CE-88F1-BB5C6C415E86}"/>
              </a:ext>
            </a:extLst>
          </p:cNvPr>
          <p:cNvSpPr>
            <a:spLocks noGrp="1"/>
          </p:cNvSpPr>
          <p:nvPr/>
        </p:nvSpPr>
        <p:spPr>
          <a:xfrm>
            <a:off x="571500" y="1219200"/>
            <a:ext cx="6096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5400" b="1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INAI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F7CD80-0C72-4FE4-AD92-55ED9FCC6754}"/>
              </a:ext>
            </a:extLst>
          </p:cNvPr>
          <p:cNvSpPr>
            <a:spLocks noGrp="1"/>
          </p:cNvSpPr>
          <p:nvPr/>
        </p:nvSpPr>
        <p:spPr>
          <a:xfrm>
            <a:off x="590550" y="2114550"/>
            <a:ext cx="619125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F6E7C4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2400" b="1" dirty="0">
                <a:solidFill>
                  <a:srgbClr val="F6E7C4"/>
                </a:solidFill>
                <a:latin typeface="Aptos Display"/>
                <a:ea typeface="Aptos Display"/>
                <a:cs typeface="Aptos Display"/>
              </a:rPr>
              <a:t>A Smart Peer Learning and Knowledge Sharing Platform</a:t>
            </a:r>
            <a:endParaRPr sz="2400" b="1" dirty="0">
              <a:solidFill>
                <a:srgbClr val="F6E7C4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09E2BE-104F-4C6B-8330-AACBB2F43296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5334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DDE8DE"/>
                </a:solidFill>
                <a:latin typeface="Aptos"/>
                <a:ea typeface="Aptos"/>
                <a:cs typeface="Aptos"/>
              </a:defRPr>
            </a:pPr>
            <a:r>
              <a:rPr sz="1425" b="1" dirty="0" err="1">
                <a:solidFill>
                  <a:srgbClr val="DDE8DE"/>
                </a:solidFill>
                <a:latin typeface="Aptos"/>
                <a:ea typeface="Aptos"/>
                <a:cs typeface="Aptos"/>
              </a:rPr>
              <a:t>Inai</a:t>
            </a:r>
            <a:r>
              <a:rPr sz="1425" b="1" dirty="0">
                <a:solidFill>
                  <a:srgbClr val="DDE8DE"/>
                </a:solidFill>
                <a:latin typeface="Aptos"/>
                <a:ea typeface="Aptos"/>
                <a:cs typeface="Aptos"/>
              </a:rPr>
              <a:t> is an ancient Tamil word meaning connection: connecting the right student to the right knowledge at the right time.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5BCFDA-E17F-4AAA-96F4-3AE7C9647832}"/>
              </a:ext>
            </a:extLst>
          </p:cNvPr>
          <p:cNvSpPr>
            <a:spLocks noGrp="1"/>
          </p:cNvSpPr>
          <p:nvPr/>
        </p:nvSpPr>
        <p:spPr>
          <a:xfrm>
            <a:off x="609600" y="4238625"/>
            <a:ext cx="4762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0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Team: MappillaiMeeran A &amp; Dhinesh 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68B850-0074-410D-870A-47F3F9FB2411}"/>
              </a:ext>
            </a:extLst>
          </p:cNvPr>
          <p:cNvSpPr>
            <a:spLocks noGrp="1"/>
          </p:cNvSpPr>
          <p:nvPr/>
        </p:nvSpPr>
        <p:spPr>
          <a:xfrm>
            <a:off x="609600" y="4638675"/>
            <a:ext cx="4762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College: SMVEC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1ACBDD-9D98-4458-A1AE-C121F39A17FA}"/>
              </a:ext>
            </a:extLst>
          </p:cNvPr>
          <p:cNvSpPr>
            <a:spLocks noGrp="1"/>
          </p:cNvSpPr>
          <p:nvPr/>
        </p:nvSpPr>
        <p:spPr>
          <a:xfrm>
            <a:off x="609600" y="5038725"/>
            <a:ext cx="4762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Department: MCA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96A5F8-15D0-4B6B-BE05-5DFF724CCB50}"/>
              </a:ext>
            </a:extLst>
          </p:cNvPr>
          <p:cNvSpPr>
            <a:spLocks noGrp="1"/>
          </p:cNvSpPr>
          <p:nvPr/>
        </p:nvSpPr>
        <p:spPr>
          <a:xfrm>
            <a:off x="609600" y="5438775"/>
            <a:ext cx="4762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Date: </a:t>
            </a:r>
            <a:r>
              <a:rPr lang="en-US" sz="140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9 </a:t>
            </a:r>
            <a:r>
              <a:rPr sz="140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June 2026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D604009-AB42-44BC-B09C-5AE9ACFA1120}"/>
              </a:ext>
            </a:extLst>
          </p:cNvPr>
          <p:cNvSpPr>
            <a:spLocks noGrp="1"/>
          </p:cNvSpPr>
          <p:nvPr/>
        </p:nvSpPr>
        <p:spPr>
          <a:xfrm>
            <a:off x="8096250" y="1428750"/>
            <a:ext cx="1219200" cy="1219200"/>
          </a:xfrm>
          <a:prstGeom prst="ellipse">
            <a:avLst/>
          </a:prstGeom>
          <a:solidFill>
            <a:srgbClr val="0F7A5A"/>
          </a:solidFill>
          <a:ln w="19050">
            <a:solidFill>
              <a:srgbClr val="FFFFFF">
                <a:alpha val="33333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15729C-7F19-4DBB-ACF3-C50EA2DC0499}"/>
              </a:ext>
            </a:extLst>
          </p:cNvPr>
          <p:cNvSpPr>
            <a:spLocks noGrp="1"/>
          </p:cNvSpPr>
          <p:nvPr/>
        </p:nvSpPr>
        <p:spPr>
          <a:xfrm>
            <a:off x="8191500" y="1885950"/>
            <a:ext cx="1028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Register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5798D72-7419-40CE-A8DF-C40AE2AF677D}"/>
              </a:ext>
            </a:extLst>
          </p:cNvPr>
          <p:cNvSpPr>
            <a:spLocks noGrp="1"/>
          </p:cNvSpPr>
          <p:nvPr/>
        </p:nvSpPr>
        <p:spPr>
          <a:xfrm>
            <a:off x="9410700" y="2724150"/>
            <a:ext cx="1219200" cy="1219200"/>
          </a:xfrm>
          <a:prstGeom prst="ellipse">
            <a:avLst/>
          </a:prstGeom>
          <a:solidFill>
            <a:srgbClr val="B87916"/>
          </a:solidFill>
          <a:ln w="19050">
            <a:solidFill>
              <a:srgbClr val="FFFFFF">
                <a:alpha val="33333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47C0B3-36D7-49D5-8C68-F3FA4606B465}"/>
              </a:ext>
            </a:extLst>
          </p:cNvPr>
          <p:cNvSpPr>
            <a:spLocks noGrp="1"/>
          </p:cNvSpPr>
          <p:nvPr/>
        </p:nvSpPr>
        <p:spPr>
          <a:xfrm>
            <a:off x="9505950" y="3181350"/>
            <a:ext cx="1028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Match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49E9947-FFDA-4AB2-9A82-D5ED9A1E1A34}"/>
              </a:ext>
            </a:extLst>
          </p:cNvPr>
          <p:cNvSpPr>
            <a:spLocks noGrp="1"/>
          </p:cNvSpPr>
          <p:nvPr/>
        </p:nvSpPr>
        <p:spPr>
          <a:xfrm>
            <a:off x="8096250" y="4019550"/>
            <a:ext cx="1219200" cy="1219200"/>
          </a:xfrm>
          <a:prstGeom prst="ellipse">
            <a:avLst/>
          </a:prstGeom>
          <a:solidFill>
            <a:srgbClr val="0F7A5A"/>
          </a:solidFill>
          <a:ln w="19050">
            <a:solidFill>
              <a:srgbClr val="FFFFFF">
                <a:alpha val="33333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8285BBA-6E55-4944-8304-239C28E147D6}"/>
              </a:ext>
            </a:extLst>
          </p:cNvPr>
          <p:cNvSpPr>
            <a:spLocks noGrp="1"/>
          </p:cNvSpPr>
          <p:nvPr/>
        </p:nvSpPr>
        <p:spPr>
          <a:xfrm>
            <a:off x="8191500" y="4476750"/>
            <a:ext cx="1028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Connect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5C1C39D-6EF2-DD96-0E78-33C8C6338C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99" t="9722" r="15279" b="11945"/>
          <a:stretch>
            <a:fillRect/>
          </a:stretch>
        </p:blipFill>
        <p:spPr>
          <a:xfrm>
            <a:off x="1905312" y="1238250"/>
            <a:ext cx="711335" cy="77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871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kicker-2-label">
            <a:extLst>
              <a:ext uri="{FF2B5EF4-FFF2-40B4-BE49-F238E27FC236}">
                <a16:creationId xmlns:a16="http://schemas.microsoft.com/office/drawing/2014/main" id="{F7113EE5-7FDB-45C3-A930-319C49CD786C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1952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050" b="1" dirty="0">
                <a:solidFill>
                  <a:srgbClr val="0F7A5A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2" name="kicker-2-marker">
            <a:extLst>
              <a:ext uri="{FF2B5EF4-FFF2-40B4-BE49-F238E27FC236}">
                <a16:creationId xmlns:a16="http://schemas.microsoft.com/office/drawing/2014/main" id="{5A654A89-ACA6-4035-9485-C99710A64978}"/>
              </a:ext>
            </a:extLst>
          </p:cNvPr>
          <p:cNvSpPr>
            <a:spLocks noGrp="1"/>
          </p:cNvSpPr>
          <p:nvPr/>
        </p:nvSpPr>
        <p:spPr>
          <a:xfrm>
            <a:off x="400050" y="390525"/>
            <a:ext cx="76200" cy="76200"/>
          </a:xfrm>
          <a:prstGeom prst="ellipse">
            <a:avLst/>
          </a:prstGeom>
          <a:solidFill>
            <a:srgbClr val="0F7A5A"/>
          </a:solidFill>
          <a:ln w="0">
            <a:solidFill>
              <a:srgbClr val="0F7A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7392BB-78CC-4EEB-A93E-58DDE2191B37}"/>
              </a:ext>
            </a:extLst>
          </p:cNvPr>
          <p:cNvSpPr>
            <a:spLocks noGrp="1"/>
          </p:cNvSpPr>
          <p:nvPr/>
        </p:nvSpPr>
        <p:spPr>
          <a:xfrm>
            <a:off x="400049" y="590550"/>
            <a:ext cx="9178665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dirty="0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Hostel students have nearby help, but no safe way to discover it.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242A1C-8A80-428F-991A-B8079993079C}"/>
              </a:ext>
            </a:extLst>
          </p:cNvPr>
          <p:cNvSpPr>
            <a:spLocks noGrp="1"/>
          </p:cNvSpPr>
          <p:nvPr/>
        </p:nvSpPr>
        <p:spPr>
          <a:xfrm>
            <a:off x="400050" y="1181100"/>
            <a:ext cx="113919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A3DD67-CE1A-4F85-8B42-A525868DF6B9}"/>
              </a:ext>
            </a:extLst>
          </p:cNvPr>
          <p:cNvSpPr>
            <a:spLocks noGrp="1"/>
          </p:cNvSpPr>
          <p:nvPr/>
        </p:nvSpPr>
        <p:spPr>
          <a:xfrm>
            <a:off x="10991850" y="63817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12C60E3-0B5E-4271-BA1F-D7FE11B11D7B}"/>
              </a:ext>
            </a:extLst>
          </p:cNvPr>
          <p:cNvSpPr>
            <a:spLocks noGrp="1"/>
          </p:cNvSpPr>
          <p:nvPr/>
        </p:nvSpPr>
        <p:spPr>
          <a:xfrm>
            <a:off x="495300" y="1524000"/>
            <a:ext cx="2095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4BBD95-A721-4007-A646-AB9677459D74}"/>
              </a:ext>
            </a:extLst>
          </p:cNvPr>
          <p:cNvSpPr>
            <a:spLocks noGrp="1"/>
          </p:cNvSpPr>
          <p:nvPr/>
        </p:nvSpPr>
        <p:spPr>
          <a:xfrm>
            <a:off x="590550" y="161925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200" b="1">
                <a:solidFill>
                  <a:srgbClr val="C4493D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C4493D"/>
                </a:solidFill>
                <a:latin typeface="Aptos"/>
                <a:ea typeface="Aptos"/>
                <a:cs typeface="Aptos"/>
              </a:rPr>
              <a:t>Stuck at Night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4F635F-6458-468C-9EEB-708CA9C4A54B}"/>
              </a:ext>
            </a:extLst>
          </p:cNvPr>
          <p:cNvSpPr>
            <a:spLocks noGrp="1"/>
          </p:cNvSpPr>
          <p:nvPr/>
        </p:nvSpPr>
        <p:spPr>
          <a:xfrm>
            <a:off x="590550" y="1885950"/>
            <a:ext cx="1809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1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DSA, Java, OS doubts during exam hours.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01F2AC0-B895-4849-AB33-1A1C05558292}"/>
              </a:ext>
            </a:extLst>
          </p:cNvPr>
          <p:cNvSpPr>
            <a:spLocks noGrp="1"/>
          </p:cNvSpPr>
          <p:nvPr/>
        </p:nvSpPr>
        <p:spPr>
          <a:xfrm>
            <a:off x="2876550" y="1524000"/>
            <a:ext cx="2095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245357-2B93-47AD-B7A6-8F3D5EB05A3E}"/>
              </a:ext>
            </a:extLst>
          </p:cNvPr>
          <p:cNvSpPr>
            <a:spLocks noGrp="1"/>
          </p:cNvSpPr>
          <p:nvPr/>
        </p:nvSpPr>
        <p:spPr>
          <a:xfrm>
            <a:off x="2971800" y="161925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200" b="1">
                <a:solidFill>
                  <a:srgbClr val="5B3A7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3A70"/>
                </a:solidFill>
                <a:latin typeface="Aptos"/>
                <a:ea typeface="Aptos"/>
                <a:cs typeface="Aptos"/>
              </a:rPr>
              <a:t>Roommate Mismatch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3195DF-3E55-49C2-9B29-C40514680B1D}"/>
              </a:ext>
            </a:extLst>
          </p:cNvPr>
          <p:cNvSpPr>
            <a:spLocks noGrp="1"/>
          </p:cNvSpPr>
          <p:nvPr/>
        </p:nvSpPr>
        <p:spPr>
          <a:xfrm>
            <a:off x="2971800" y="1885950"/>
            <a:ext cx="1809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1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Random pairing creates lifestyle conflicts.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55E43B2-7E99-4056-886F-2B7E511994FC}"/>
              </a:ext>
            </a:extLst>
          </p:cNvPr>
          <p:cNvSpPr>
            <a:spLocks noGrp="1"/>
          </p:cNvSpPr>
          <p:nvPr/>
        </p:nvSpPr>
        <p:spPr>
          <a:xfrm>
            <a:off x="5257800" y="1524000"/>
            <a:ext cx="2095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52E0BF-60BD-4F38-AF80-73BA2D08C94F}"/>
              </a:ext>
            </a:extLst>
          </p:cNvPr>
          <p:cNvSpPr>
            <a:spLocks noGrp="1"/>
          </p:cNvSpPr>
          <p:nvPr/>
        </p:nvSpPr>
        <p:spPr>
          <a:xfrm>
            <a:off x="5353050" y="161925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200" b="1">
                <a:solidFill>
                  <a:srgbClr val="B879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7916"/>
                </a:solidFill>
                <a:latin typeface="Aptos"/>
                <a:ea typeface="Aptos"/>
                <a:cs typeface="Aptos"/>
              </a:rPr>
              <a:t>Unsafe Interactions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EDB6B2-9EB1-4E5F-8B65-21AB39D60D9F}"/>
              </a:ext>
            </a:extLst>
          </p:cNvPr>
          <p:cNvSpPr>
            <a:spLocks noGrp="1"/>
          </p:cNvSpPr>
          <p:nvPr/>
        </p:nvSpPr>
        <p:spPr>
          <a:xfrm>
            <a:off x="5353050" y="1885950"/>
            <a:ext cx="1809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1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Unknown </a:t>
            </a:r>
            <a:r>
              <a:rPr sz="1100" b="0" dirty="0" err="1">
                <a:solidFill>
                  <a:srgbClr val="5E665F"/>
                </a:solidFill>
                <a:latin typeface="Aptos"/>
                <a:ea typeface="Aptos"/>
                <a:cs typeface="Aptos"/>
              </a:rPr>
              <a:t>neighbours</a:t>
            </a:r>
            <a:r>
              <a:rPr sz="11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 feel awkward to approach.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CDB028D-F7BA-400D-A5B6-27BE18DAEB68}"/>
              </a:ext>
            </a:extLst>
          </p:cNvPr>
          <p:cNvSpPr>
            <a:spLocks noGrp="1"/>
          </p:cNvSpPr>
          <p:nvPr/>
        </p:nvSpPr>
        <p:spPr>
          <a:xfrm>
            <a:off x="495300" y="2724150"/>
            <a:ext cx="2095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F7779B0-272C-4FBD-AEA8-4807AFFC1B73}"/>
              </a:ext>
            </a:extLst>
          </p:cNvPr>
          <p:cNvSpPr>
            <a:spLocks noGrp="1"/>
          </p:cNvSpPr>
          <p:nvPr/>
        </p:nvSpPr>
        <p:spPr>
          <a:xfrm>
            <a:off x="590550" y="281940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2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No Flexible Matching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CC07179-D05F-4042-AB7D-4BC90F9980BF}"/>
              </a:ext>
            </a:extLst>
          </p:cNvPr>
          <p:cNvSpPr>
            <a:spLocks noGrp="1"/>
          </p:cNvSpPr>
          <p:nvPr/>
        </p:nvSpPr>
        <p:spPr>
          <a:xfrm>
            <a:off x="590550" y="3086100"/>
            <a:ext cx="1809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1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Need both instant help and best-fit matching.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0034476-DC90-44EF-9821-5F3792DC0E4A}"/>
              </a:ext>
            </a:extLst>
          </p:cNvPr>
          <p:cNvSpPr>
            <a:spLocks noGrp="1"/>
          </p:cNvSpPr>
          <p:nvPr/>
        </p:nvSpPr>
        <p:spPr>
          <a:xfrm>
            <a:off x="2876550" y="2724150"/>
            <a:ext cx="2095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85296B0-CB47-436C-BF40-55EA0EA3DAB4}"/>
              </a:ext>
            </a:extLst>
          </p:cNvPr>
          <p:cNvSpPr>
            <a:spLocks noGrp="1"/>
          </p:cNvSpPr>
          <p:nvPr/>
        </p:nvSpPr>
        <p:spPr>
          <a:xfrm>
            <a:off x="2971800" y="281940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20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Out-of-State Isolation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0E1B19C-B3B8-43DA-8ED5-FABF68EB74A3}"/>
              </a:ext>
            </a:extLst>
          </p:cNvPr>
          <p:cNvSpPr>
            <a:spLocks noGrp="1"/>
          </p:cNvSpPr>
          <p:nvPr/>
        </p:nvSpPr>
        <p:spPr>
          <a:xfrm>
            <a:off x="2971800" y="3086100"/>
            <a:ext cx="1809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1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Language/state familiarity is hard to find.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10B3F27-2297-45C8-A0C2-7F0D1DFC3023}"/>
              </a:ext>
            </a:extLst>
          </p:cNvPr>
          <p:cNvSpPr>
            <a:spLocks noGrp="1"/>
          </p:cNvSpPr>
          <p:nvPr/>
        </p:nvSpPr>
        <p:spPr>
          <a:xfrm>
            <a:off x="5257800" y="2724150"/>
            <a:ext cx="2095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B9DB0A-09E5-4F47-9FA5-E87868C09160}"/>
              </a:ext>
            </a:extLst>
          </p:cNvPr>
          <p:cNvSpPr>
            <a:spLocks noGrp="1"/>
          </p:cNvSpPr>
          <p:nvPr/>
        </p:nvSpPr>
        <p:spPr>
          <a:xfrm>
            <a:off x="5353050" y="281940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20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Unorganized Tools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216FFD9-FFE1-4A1D-ABD1-41CC10820243}"/>
              </a:ext>
            </a:extLst>
          </p:cNvPr>
          <p:cNvSpPr>
            <a:spLocks noGrp="1"/>
          </p:cNvSpPr>
          <p:nvPr/>
        </p:nvSpPr>
        <p:spPr>
          <a:xfrm>
            <a:off x="5353050" y="3086100"/>
            <a:ext cx="1809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1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Groups and notices are noisy, stale, and unfiltered.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A8B97E0-F81A-42F6-9357-B7055709ED30}"/>
              </a:ext>
            </a:extLst>
          </p:cNvPr>
          <p:cNvSpPr>
            <a:spLocks noGrp="1"/>
          </p:cNvSpPr>
          <p:nvPr/>
        </p:nvSpPr>
        <p:spPr>
          <a:xfrm>
            <a:off x="7867650" y="1466849"/>
            <a:ext cx="3924300" cy="7524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35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17201B"/>
                </a:solidFill>
                <a:latin typeface="Aptos"/>
                <a:ea typeface="Aptos"/>
                <a:cs typeface="Aptos"/>
              </a:rPr>
              <a:t>Existing solutions still miss the system layer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F90EA5F-C6A7-44C7-823F-21CD105F244F}"/>
              </a:ext>
            </a:extLst>
          </p:cNvPr>
          <p:cNvSpPr>
            <a:spLocks noGrp="1"/>
          </p:cNvSpPr>
          <p:nvPr/>
        </p:nvSpPr>
        <p:spPr>
          <a:xfrm>
            <a:off x="7867650" y="1952625"/>
            <a:ext cx="104775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100" b="1" dirty="0">
                <a:solidFill>
                  <a:srgbClr val="17201B"/>
                </a:solidFill>
                <a:latin typeface="Aptos"/>
                <a:ea typeface="Aptos"/>
                <a:cs typeface="Aptos"/>
              </a:rPr>
              <a:t>WhatsApp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7DEB42-2E98-4375-AA3E-18985D194D64}"/>
              </a:ext>
            </a:extLst>
          </p:cNvPr>
          <p:cNvSpPr>
            <a:spLocks noGrp="1"/>
          </p:cNvSpPr>
          <p:nvPr/>
        </p:nvSpPr>
        <p:spPr>
          <a:xfrm>
            <a:off x="8991600" y="1952625"/>
            <a:ext cx="13335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00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000" b="0" dirty="0">
                <a:solidFill>
                  <a:srgbClr val="17201B"/>
                </a:solidFill>
                <a:latin typeface="Aptos"/>
                <a:ea typeface="Aptos"/>
                <a:cs typeface="Aptos"/>
              </a:rPr>
              <a:t>No skill filter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630DCFB-25E2-4E42-87F5-2D71E127C6E6}"/>
              </a:ext>
            </a:extLst>
          </p:cNvPr>
          <p:cNvSpPr>
            <a:spLocks noGrp="1"/>
          </p:cNvSpPr>
          <p:nvPr/>
        </p:nvSpPr>
        <p:spPr>
          <a:xfrm>
            <a:off x="10382250" y="1952625"/>
            <a:ext cx="120015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00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000" b="0" dirty="0">
                <a:solidFill>
                  <a:srgbClr val="17201B"/>
                </a:solidFill>
                <a:latin typeface="Aptos"/>
                <a:ea typeface="Aptos"/>
                <a:cs typeface="Aptos"/>
              </a:rPr>
              <a:t>No algorithm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8F896E0-C797-437B-ADD7-3F439D08EC29}"/>
              </a:ext>
            </a:extLst>
          </p:cNvPr>
          <p:cNvSpPr>
            <a:spLocks noGrp="1"/>
          </p:cNvSpPr>
          <p:nvPr/>
        </p:nvSpPr>
        <p:spPr>
          <a:xfrm>
            <a:off x="7867650" y="2409825"/>
            <a:ext cx="1047750" cy="266700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100" b="1" dirty="0">
                <a:solidFill>
                  <a:srgbClr val="17201B"/>
                </a:solidFill>
                <a:latin typeface="Aptos"/>
                <a:ea typeface="Aptos"/>
                <a:cs typeface="Aptos"/>
              </a:rPr>
              <a:t>Friends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B326A47-2B50-4BE4-A2C5-296265515BA5}"/>
              </a:ext>
            </a:extLst>
          </p:cNvPr>
          <p:cNvSpPr>
            <a:spLocks noGrp="1"/>
          </p:cNvSpPr>
          <p:nvPr/>
        </p:nvSpPr>
        <p:spPr>
          <a:xfrm>
            <a:off x="8991600" y="2409825"/>
            <a:ext cx="1333500" cy="266700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00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000" b="0" dirty="0">
                <a:solidFill>
                  <a:srgbClr val="17201B"/>
                </a:solidFill>
                <a:latin typeface="Aptos"/>
                <a:ea typeface="Aptos"/>
                <a:cs typeface="Aptos"/>
              </a:rPr>
              <a:t>Limited reach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0F18EB8-DFA6-4912-9045-076333EE5993}"/>
              </a:ext>
            </a:extLst>
          </p:cNvPr>
          <p:cNvSpPr>
            <a:spLocks noGrp="1"/>
          </p:cNvSpPr>
          <p:nvPr/>
        </p:nvSpPr>
        <p:spPr>
          <a:xfrm>
            <a:off x="10382250" y="2409825"/>
            <a:ext cx="1200150" cy="266700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00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000" b="0" dirty="0">
                <a:solidFill>
                  <a:srgbClr val="17201B"/>
                </a:solidFill>
                <a:latin typeface="Aptos"/>
                <a:ea typeface="Aptos"/>
                <a:cs typeface="Aptos"/>
              </a:rPr>
              <a:t>No discovery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B673CA2-5E73-4659-AF48-D26001AEDB7C}"/>
              </a:ext>
            </a:extLst>
          </p:cNvPr>
          <p:cNvSpPr>
            <a:spLocks noGrp="1"/>
          </p:cNvSpPr>
          <p:nvPr/>
        </p:nvSpPr>
        <p:spPr>
          <a:xfrm>
            <a:off x="7867650" y="2867025"/>
            <a:ext cx="104775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100" b="1" dirty="0">
                <a:solidFill>
                  <a:srgbClr val="17201B"/>
                </a:solidFill>
                <a:latin typeface="Aptos"/>
                <a:ea typeface="Aptos"/>
                <a:cs typeface="Aptos"/>
              </a:rPr>
              <a:t>YouTube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B310980-99D7-4617-9696-84B8D4BE6870}"/>
              </a:ext>
            </a:extLst>
          </p:cNvPr>
          <p:cNvSpPr>
            <a:spLocks noGrp="1"/>
          </p:cNvSpPr>
          <p:nvPr/>
        </p:nvSpPr>
        <p:spPr>
          <a:xfrm>
            <a:off x="8991600" y="2867025"/>
            <a:ext cx="13335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00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000" b="0" dirty="0">
                <a:solidFill>
                  <a:srgbClr val="17201B"/>
                </a:solidFill>
                <a:latin typeface="Aptos"/>
                <a:ea typeface="Aptos"/>
                <a:cs typeface="Aptos"/>
              </a:rPr>
              <a:t>Generic content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891E61B-8A40-4C96-B68D-85554C245E1D}"/>
              </a:ext>
            </a:extLst>
          </p:cNvPr>
          <p:cNvSpPr>
            <a:spLocks noGrp="1"/>
          </p:cNvSpPr>
          <p:nvPr/>
        </p:nvSpPr>
        <p:spPr>
          <a:xfrm>
            <a:off x="10382250" y="2867025"/>
            <a:ext cx="120015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00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000" b="0" dirty="0">
                <a:solidFill>
                  <a:srgbClr val="17201B"/>
                </a:solidFill>
                <a:latin typeface="Aptos"/>
                <a:ea typeface="Aptos"/>
                <a:cs typeface="Aptos"/>
              </a:rPr>
              <a:t>No syllabus fit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021DE49-8232-4EDB-B2EB-263F8AFCA5DF}"/>
              </a:ext>
            </a:extLst>
          </p:cNvPr>
          <p:cNvSpPr>
            <a:spLocks noGrp="1"/>
          </p:cNvSpPr>
          <p:nvPr/>
        </p:nvSpPr>
        <p:spPr>
          <a:xfrm>
            <a:off x="7867650" y="3324225"/>
            <a:ext cx="1047750" cy="295275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>
              <a:defRPr sz="9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lang="en-IN" sz="1100" b="1" dirty="0"/>
              <a:t>Class Groups</a:t>
            </a:r>
            <a:endParaRPr sz="1100" b="1" dirty="0">
              <a:solidFill>
                <a:srgbClr val="17201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0185CC5-2EF8-4914-9499-3ACAAFD68DB5}"/>
              </a:ext>
            </a:extLst>
          </p:cNvPr>
          <p:cNvSpPr>
            <a:spLocks noGrp="1"/>
          </p:cNvSpPr>
          <p:nvPr/>
        </p:nvSpPr>
        <p:spPr>
          <a:xfrm>
            <a:off x="8991600" y="3324225"/>
            <a:ext cx="1333500" cy="266700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>
              <a:defRPr sz="900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lang="en-IN" sz="900" dirty="0"/>
              <a:t>Only classmates</a:t>
            </a:r>
            <a:endParaRPr sz="1000" b="0" dirty="0">
              <a:solidFill>
                <a:srgbClr val="17201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811F008-C9EC-44D8-B498-8539CB4F3B4A}"/>
              </a:ext>
            </a:extLst>
          </p:cNvPr>
          <p:cNvSpPr>
            <a:spLocks noGrp="1"/>
          </p:cNvSpPr>
          <p:nvPr/>
        </p:nvSpPr>
        <p:spPr>
          <a:xfrm>
            <a:off x="10356056" y="3324224"/>
            <a:ext cx="1200150" cy="314325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>
              <a:defRPr sz="900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lang="en-IN" sz="900" dirty="0"/>
              <a:t>No hostel-wide</a:t>
            </a:r>
          </a:p>
          <a:p>
            <a:pPr>
              <a:defRPr sz="900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lang="en-IN" sz="900" dirty="0"/>
              <a:t>discovery</a:t>
            </a:r>
            <a:endParaRPr sz="1000" b="0" dirty="0">
              <a:solidFill>
                <a:srgbClr val="17201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ECEAED0-EDB2-423F-8A99-D2EFDCC46751}"/>
              </a:ext>
            </a:extLst>
          </p:cNvPr>
          <p:cNvSpPr>
            <a:spLocks noGrp="1"/>
          </p:cNvSpPr>
          <p:nvPr/>
        </p:nvSpPr>
        <p:spPr>
          <a:xfrm>
            <a:off x="7867650" y="3781425"/>
            <a:ext cx="104775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100" b="1" dirty="0">
                <a:solidFill>
                  <a:srgbClr val="17201B"/>
                </a:solidFill>
                <a:latin typeface="Aptos"/>
                <a:ea typeface="Aptos"/>
                <a:cs typeface="Aptos"/>
              </a:rPr>
              <a:t>Nothing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83C5D70-6260-4CA6-B7DF-35ABE0DEB8E4}"/>
              </a:ext>
            </a:extLst>
          </p:cNvPr>
          <p:cNvSpPr>
            <a:spLocks noGrp="1"/>
          </p:cNvSpPr>
          <p:nvPr/>
        </p:nvSpPr>
        <p:spPr>
          <a:xfrm>
            <a:off x="8991600" y="3781425"/>
            <a:ext cx="13335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00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000" b="0" dirty="0">
                <a:solidFill>
                  <a:srgbClr val="17201B"/>
                </a:solidFill>
                <a:latin typeface="Aptos"/>
                <a:ea typeface="Aptos"/>
                <a:cs typeface="Aptos"/>
              </a:rPr>
              <a:t>Silent struggle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8EE568C-95F2-4738-8CB7-7FA667DD7733}"/>
              </a:ext>
            </a:extLst>
          </p:cNvPr>
          <p:cNvSpPr>
            <a:spLocks noGrp="1"/>
          </p:cNvSpPr>
          <p:nvPr/>
        </p:nvSpPr>
        <p:spPr>
          <a:xfrm>
            <a:off x="10382250" y="3781425"/>
            <a:ext cx="120015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00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000" b="0" dirty="0">
                <a:solidFill>
                  <a:srgbClr val="17201B"/>
                </a:solidFill>
                <a:latin typeface="Aptos"/>
                <a:ea typeface="Aptos"/>
                <a:cs typeface="Aptos"/>
              </a:rPr>
              <a:t>No platform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8241CB0-58CF-487B-92DD-02ADF110E1B1}"/>
              </a:ext>
            </a:extLst>
          </p:cNvPr>
          <p:cNvSpPr>
            <a:spLocks noGrp="1"/>
          </p:cNvSpPr>
          <p:nvPr/>
        </p:nvSpPr>
        <p:spPr>
          <a:xfrm>
            <a:off x="666750" y="5286375"/>
            <a:ext cx="10382250" cy="514350"/>
          </a:xfrm>
          <a:prstGeom prst="rect">
            <a:avLst/>
          </a:prstGeom>
          <a:solidFill>
            <a:srgbClr val="102019"/>
          </a:solidFill>
          <a:ln w="0">
            <a:solidFill>
              <a:srgbClr val="10201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A4B58BB-2E7A-4EB7-B0A7-E3BB2CCDDF53}"/>
              </a:ext>
            </a:extLst>
          </p:cNvPr>
          <p:cNvSpPr>
            <a:spLocks noGrp="1"/>
          </p:cNvSpPr>
          <p:nvPr/>
        </p:nvSpPr>
        <p:spPr>
          <a:xfrm>
            <a:off x="838200" y="5334000"/>
            <a:ext cx="10001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800" b="1">
                <a:solidFill>
                  <a:srgbClr val="F6E7C4"/>
                </a:solidFill>
                <a:latin typeface="Aptos"/>
                <a:ea typeface="Aptos"/>
                <a:cs typeface="Aptos"/>
              </a:defRPr>
            </a:pPr>
            <a:r>
              <a:rPr sz="1800" b="1" dirty="0">
                <a:solidFill>
                  <a:srgbClr val="F6E7C4"/>
                </a:solidFill>
                <a:latin typeface="Aptos"/>
                <a:ea typeface="Aptos"/>
                <a:cs typeface="Aptos"/>
              </a:rPr>
              <a:t>"The right study partner is 2 rooms away - but you'll never know."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EBE5BAD-DD99-4930-B7F2-679DBA14A9D1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590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750" b="1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INAI | Smart Study Partner &amp; Roommate Matching System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FA65802C-CA81-F89A-86A4-29806AECAC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9450" y="202301"/>
            <a:ext cx="1242873" cy="376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234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kicker-3-label">
            <a:extLst>
              <a:ext uri="{FF2B5EF4-FFF2-40B4-BE49-F238E27FC236}">
                <a16:creationId xmlns:a16="http://schemas.microsoft.com/office/drawing/2014/main" id="{D477807D-73F6-4C07-8675-421F68D70361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1952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050" b="1" dirty="0">
                <a:solidFill>
                  <a:srgbClr val="0F7A5A"/>
                </a:solidFill>
                <a:latin typeface="Aptos"/>
                <a:ea typeface="Aptos"/>
                <a:cs typeface="Aptos"/>
              </a:rPr>
              <a:t>SOLUTION</a:t>
            </a:r>
          </a:p>
        </p:txBody>
      </p:sp>
      <p:sp>
        <p:nvSpPr>
          <p:cNvPr id="2" name="kicker-3-marker">
            <a:extLst>
              <a:ext uri="{FF2B5EF4-FFF2-40B4-BE49-F238E27FC236}">
                <a16:creationId xmlns:a16="http://schemas.microsoft.com/office/drawing/2014/main" id="{D922824A-B893-4D0C-9EEC-840024CB1E0C}"/>
              </a:ext>
            </a:extLst>
          </p:cNvPr>
          <p:cNvSpPr>
            <a:spLocks noGrp="1"/>
          </p:cNvSpPr>
          <p:nvPr/>
        </p:nvSpPr>
        <p:spPr>
          <a:xfrm>
            <a:off x="400050" y="390525"/>
            <a:ext cx="76200" cy="76200"/>
          </a:xfrm>
          <a:prstGeom prst="ellipse">
            <a:avLst/>
          </a:prstGeom>
          <a:solidFill>
            <a:srgbClr val="0F7A5A"/>
          </a:solidFill>
          <a:ln w="0">
            <a:solidFill>
              <a:srgbClr val="0F7A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D65E3A-8D5A-4F45-8D11-E950E17B26F4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01727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dirty="0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INAI turns student profiles into safe, ranked academic connections.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F0C033-EEA4-4424-BFC1-5E9DEE97EFD0}"/>
              </a:ext>
            </a:extLst>
          </p:cNvPr>
          <p:cNvSpPr>
            <a:spLocks noGrp="1"/>
          </p:cNvSpPr>
          <p:nvPr/>
        </p:nvSpPr>
        <p:spPr>
          <a:xfrm>
            <a:off x="400050" y="1181100"/>
            <a:ext cx="113919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12140F-AE89-4B35-B502-8F3DA1F0974C}"/>
              </a:ext>
            </a:extLst>
          </p:cNvPr>
          <p:cNvSpPr>
            <a:spLocks noGrp="1"/>
          </p:cNvSpPr>
          <p:nvPr/>
        </p:nvSpPr>
        <p:spPr>
          <a:xfrm>
            <a:off x="10991850" y="63817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932E258-B250-4291-8203-4788C274B05A}"/>
              </a:ext>
            </a:extLst>
          </p:cNvPr>
          <p:cNvSpPr>
            <a:spLocks noGrp="1"/>
          </p:cNvSpPr>
          <p:nvPr/>
        </p:nvSpPr>
        <p:spPr>
          <a:xfrm>
            <a:off x="647700" y="1571625"/>
            <a:ext cx="723900" cy="723900"/>
          </a:xfrm>
          <a:prstGeom prst="ellipse">
            <a:avLst/>
          </a:prstGeom>
          <a:solidFill>
            <a:srgbClr val="0F7A5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428C59-30C8-4FC4-811A-5AE90756DF84}"/>
              </a:ext>
            </a:extLst>
          </p:cNvPr>
          <p:cNvSpPr>
            <a:spLocks noGrp="1"/>
          </p:cNvSpPr>
          <p:nvPr/>
        </p:nvSpPr>
        <p:spPr>
          <a:xfrm>
            <a:off x="819150" y="1781175"/>
            <a:ext cx="381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D61A61-2E03-4E7B-B8F3-9479EA0176C9}"/>
              </a:ext>
            </a:extLst>
          </p:cNvPr>
          <p:cNvSpPr>
            <a:spLocks noGrp="1"/>
          </p:cNvSpPr>
          <p:nvPr/>
        </p:nvSpPr>
        <p:spPr>
          <a:xfrm>
            <a:off x="1524000" y="1571625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50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400" b="1" dirty="0">
                <a:solidFill>
                  <a:srgbClr val="17201B"/>
                </a:solidFill>
                <a:latin typeface="Aptos"/>
                <a:ea typeface="Aptos"/>
                <a:cs typeface="Aptos"/>
              </a:rPr>
              <a:t>Register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4F3616-7F89-4960-AB5E-AB4E450CF969}"/>
              </a:ext>
            </a:extLst>
          </p:cNvPr>
          <p:cNvSpPr>
            <a:spLocks noGrp="1"/>
          </p:cNvSpPr>
          <p:nvPr/>
        </p:nvSpPr>
        <p:spPr>
          <a:xfrm>
            <a:off x="1524000" y="1885950"/>
            <a:ext cx="1524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Skills, hostel, block, subjects, lifestyle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CFADF3-49D3-48FA-9901-4A1944528E83}"/>
              </a:ext>
            </a:extLst>
          </p:cNvPr>
          <p:cNvSpPr>
            <a:spLocks noGrp="1"/>
          </p:cNvSpPr>
          <p:nvPr/>
        </p:nvSpPr>
        <p:spPr>
          <a:xfrm>
            <a:off x="2914650" y="1885950"/>
            <a:ext cx="400050" cy="19050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930E6A5-A978-43C1-ABF9-8D9F21DFFDC7}"/>
              </a:ext>
            </a:extLst>
          </p:cNvPr>
          <p:cNvSpPr>
            <a:spLocks noGrp="1"/>
          </p:cNvSpPr>
          <p:nvPr/>
        </p:nvSpPr>
        <p:spPr>
          <a:xfrm>
            <a:off x="3267075" y="1571625"/>
            <a:ext cx="723900" cy="723900"/>
          </a:xfrm>
          <a:prstGeom prst="ellipse">
            <a:avLst/>
          </a:prstGeom>
          <a:solidFill>
            <a:srgbClr val="B8791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9091D1-FF9F-495F-8FE2-AB7E0E334792}"/>
              </a:ext>
            </a:extLst>
          </p:cNvPr>
          <p:cNvSpPr>
            <a:spLocks noGrp="1"/>
          </p:cNvSpPr>
          <p:nvPr/>
        </p:nvSpPr>
        <p:spPr>
          <a:xfrm>
            <a:off x="3429000" y="1781175"/>
            <a:ext cx="381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C6234C-A187-4989-8A75-4936474B5346}"/>
              </a:ext>
            </a:extLst>
          </p:cNvPr>
          <p:cNvSpPr>
            <a:spLocks noGrp="1"/>
          </p:cNvSpPr>
          <p:nvPr/>
        </p:nvSpPr>
        <p:spPr>
          <a:xfrm>
            <a:off x="4143375" y="1571625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50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400" b="1" dirty="0">
                <a:solidFill>
                  <a:srgbClr val="17201B"/>
                </a:solidFill>
                <a:latin typeface="Aptos"/>
                <a:ea typeface="Aptos"/>
                <a:cs typeface="Aptos"/>
              </a:rPr>
              <a:t>Match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276484-2F4D-412D-AADD-45D6D27C6383}"/>
              </a:ext>
            </a:extLst>
          </p:cNvPr>
          <p:cNvSpPr>
            <a:spLocks noGrp="1"/>
          </p:cNvSpPr>
          <p:nvPr/>
        </p:nvSpPr>
        <p:spPr>
          <a:xfrm>
            <a:off x="4143375" y="1885950"/>
            <a:ext cx="1524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Quick, Preference, or Roommate ranking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649F5A5-D4D5-4254-B4AD-72AA1DF4C6C7}"/>
              </a:ext>
            </a:extLst>
          </p:cNvPr>
          <p:cNvSpPr>
            <a:spLocks noGrp="1"/>
          </p:cNvSpPr>
          <p:nvPr/>
        </p:nvSpPr>
        <p:spPr>
          <a:xfrm>
            <a:off x="5534025" y="1885950"/>
            <a:ext cx="400050" cy="19050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B379CDF-3786-406F-9E78-9C2975CA0B8D}"/>
              </a:ext>
            </a:extLst>
          </p:cNvPr>
          <p:cNvSpPr>
            <a:spLocks noGrp="1"/>
          </p:cNvSpPr>
          <p:nvPr/>
        </p:nvSpPr>
        <p:spPr>
          <a:xfrm>
            <a:off x="5886450" y="1571625"/>
            <a:ext cx="723900" cy="723900"/>
          </a:xfrm>
          <a:prstGeom prst="ellipse">
            <a:avLst/>
          </a:prstGeom>
          <a:solidFill>
            <a:srgbClr val="0B7285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49F43BA-4183-47D4-9A73-597333C68A21}"/>
              </a:ext>
            </a:extLst>
          </p:cNvPr>
          <p:cNvSpPr>
            <a:spLocks noGrp="1"/>
          </p:cNvSpPr>
          <p:nvPr/>
        </p:nvSpPr>
        <p:spPr>
          <a:xfrm>
            <a:off x="6044471" y="1781175"/>
            <a:ext cx="381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5DCC9A-A76E-490E-A32E-114E7E3F9927}"/>
              </a:ext>
            </a:extLst>
          </p:cNvPr>
          <p:cNvSpPr>
            <a:spLocks noGrp="1"/>
          </p:cNvSpPr>
          <p:nvPr/>
        </p:nvSpPr>
        <p:spPr>
          <a:xfrm>
            <a:off x="6762750" y="1571625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50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400" b="1" dirty="0">
                <a:solidFill>
                  <a:srgbClr val="17201B"/>
                </a:solidFill>
                <a:latin typeface="Aptos"/>
                <a:ea typeface="Aptos"/>
                <a:cs typeface="Aptos"/>
              </a:rPr>
              <a:t>Connect Safely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9752402-6510-4AE0-982D-E5CD2219B5F8}"/>
              </a:ext>
            </a:extLst>
          </p:cNvPr>
          <p:cNvSpPr>
            <a:spLocks noGrp="1"/>
          </p:cNvSpPr>
          <p:nvPr/>
        </p:nvSpPr>
        <p:spPr>
          <a:xfrm>
            <a:off x="6762750" y="1885950"/>
            <a:ext cx="1524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Request first; room reveals only after accept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F28CE62-3320-474D-880F-E979A3D04FCF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457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50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400" b="1" dirty="0">
                <a:solidFill>
                  <a:srgbClr val="17201B"/>
                </a:solidFill>
                <a:latin typeface="Aptos"/>
                <a:ea typeface="Aptos"/>
                <a:cs typeface="Aptos"/>
              </a:rPr>
              <a:t>Preference scoring model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9D83FB7-4A99-4824-86D0-D074C0ED950F}"/>
              </a:ext>
            </a:extLst>
          </p:cNvPr>
          <p:cNvSpPr>
            <a:spLocks noGrp="1"/>
          </p:cNvSpPr>
          <p:nvPr/>
        </p:nvSpPr>
        <p:spPr>
          <a:xfrm>
            <a:off x="742950" y="3390900"/>
            <a:ext cx="17145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Proximity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FC84094-E172-4C12-8B19-25B2BE4F4A6F}"/>
              </a:ext>
            </a:extLst>
          </p:cNvPr>
          <p:cNvSpPr>
            <a:spLocks noGrp="1"/>
          </p:cNvSpPr>
          <p:nvPr/>
        </p:nvSpPr>
        <p:spPr>
          <a:xfrm>
            <a:off x="2571750" y="3390900"/>
            <a:ext cx="6477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20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40%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F77C166-49CD-40FC-A822-2DB8854B8479}"/>
              </a:ext>
            </a:extLst>
          </p:cNvPr>
          <p:cNvSpPr>
            <a:spLocks noGrp="1"/>
          </p:cNvSpPr>
          <p:nvPr/>
        </p:nvSpPr>
        <p:spPr>
          <a:xfrm>
            <a:off x="3333750" y="3390900"/>
            <a:ext cx="238125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Same block/hostel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002A6E7-3CFA-4A29-A3CF-A1DCC058F7A0}"/>
              </a:ext>
            </a:extLst>
          </p:cNvPr>
          <p:cNvSpPr>
            <a:spLocks noGrp="1"/>
          </p:cNvSpPr>
          <p:nvPr/>
        </p:nvSpPr>
        <p:spPr>
          <a:xfrm>
            <a:off x="742950" y="3829050"/>
            <a:ext cx="1714500" cy="266700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Skill complement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E6F2A50-73A9-4728-B77F-471E54A87A3A}"/>
              </a:ext>
            </a:extLst>
          </p:cNvPr>
          <p:cNvSpPr>
            <a:spLocks noGrp="1"/>
          </p:cNvSpPr>
          <p:nvPr/>
        </p:nvSpPr>
        <p:spPr>
          <a:xfrm>
            <a:off x="2571750" y="3829050"/>
            <a:ext cx="647700" cy="266700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20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30%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C9DD31B-4CD8-4BA1-92F1-22002BB4CE11}"/>
              </a:ext>
            </a:extLst>
          </p:cNvPr>
          <p:cNvSpPr>
            <a:spLocks noGrp="1"/>
          </p:cNvSpPr>
          <p:nvPr/>
        </p:nvSpPr>
        <p:spPr>
          <a:xfrm>
            <a:off x="3333750" y="3829050"/>
            <a:ext cx="2381250" cy="266700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Need ∩ their strong subject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991AC55-B8BD-4D6B-8A88-4C17E1929144}"/>
              </a:ext>
            </a:extLst>
          </p:cNvPr>
          <p:cNvSpPr>
            <a:spLocks noGrp="1"/>
          </p:cNvSpPr>
          <p:nvPr/>
        </p:nvSpPr>
        <p:spPr>
          <a:xfrm>
            <a:off x="742950" y="4267200"/>
            <a:ext cx="17145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Academic fit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EF6590D-6B6A-4B63-B500-60ACCA2BECA9}"/>
              </a:ext>
            </a:extLst>
          </p:cNvPr>
          <p:cNvSpPr>
            <a:spLocks noGrp="1"/>
          </p:cNvSpPr>
          <p:nvPr/>
        </p:nvSpPr>
        <p:spPr>
          <a:xfrm>
            <a:off x="2571750" y="4267200"/>
            <a:ext cx="6477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20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497D1EF-B930-4E6A-9E3C-3B1C8CE24178}"/>
              </a:ext>
            </a:extLst>
          </p:cNvPr>
          <p:cNvSpPr>
            <a:spLocks noGrp="1"/>
          </p:cNvSpPr>
          <p:nvPr/>
        </p:nvSpPr>
        <p:spPr>
          <a:xfrm>
            <a:off x="3333750" y="4267200"/>
            <a:ext cx="238125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Same branch + same year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BFC4FF3-F02A-472C-B6FA-5DB3DCEB6DAC}"/>
              </a:ext>
            </a:extLst>
          </p:cNvPr>
          <p:cNvSpPr>
            <a:spLocks noGrp="1"/>
          </p:cNvSpPr>
          <p:nvPr/>
        </p:nvSpPr>
        <p:spPr>
          <a:xfrm>
            <a:off x="742950" y="4705350"/>
            <a:ext cx="1714500" cy="266700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State/language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289084A-DCFC-4CF6-BC58-74DA1D90047A}"/>
              </a:ext>
            </a:extLst>
          </p:cNvPr>
          <p:cNvSpPr>
            <a:spLocks noGrp="1"/>
          </p:cNvSpPr>
          <p:nvPr/>
        </p:nvSpPr>
        <p:spPr>
          <a:xfrm>
            <a:off x="2571750" y="4705350"/>
            <a:ext cx="647700" cy="266700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20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D07E99B-6DA1-4B98-AA45-E2D53FBD96C4}"/>
              </a:ext>
            </a:extLst>
          </p:cNvPr>
          <p:cNvSpPr>
            <a:spLocks noGrp="1"/>
          </p:cNvSpPr>
          <p:nvPr/>
        </p:nvSpPr>
        <p:spPr>
          <a:xfrm>
            <a:off x="3333750" y="4705350"/>
            <a:ext cx="2381250" cy="266700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Familiar peer support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D66ADF27-0729-430A-B057-5511E149D98C}"/>
              </a:ext>
            </a:extLst>
          </p:cNvPr>
          <p:cNvSpPr>
            <a:spLocks noGrp="1"/>
          </p:cNvSpPr>
          <p:nvPr/>
        </p:nvSpPr>
        <p:spPr>
          <a:xfrm>
            <a:off x="6705600" y="3143250"/>
            <a:ext cx="4305300" cy="1924050"/>
          </a:xfrm>
          <a:prstGeom prst="roundRect">
            <a:avLst>
              <a:gd name="adj" fmla="val 3960"/>
            </a:avLst>
          </a:prstGeom>
          <a:solidFill>
            <a:srgbClr val="102019"/>
          </a:solidFill>
          <a:ln w="9525">
            <a:solidFill>
              <a:srgbClr val="10201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21EEAE2-5BA9-4541-BAF0-8B1C9E21FAB5}"/>
              </a:ext>
            </a:extLst>
          </p:cNvPr>
          <p:cNvSpPr>
            <a:spLocks noGrp="1"/>
          </p:cNvSpPr>
          <p:nvPr/>
        </p:nvSpPr>
        <p:spPr>
          <a:xfrm>
            <a:off x="6934200" y="3371850"/>
            <a:ext cx="3714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200" b="1">
                <a:solidFill>
                  <a:srgbClr val="9FE3C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FE3C8"/>
                </a:solidFill>
                <a:latin typeface="Aptos"/>
                <a:ea typeface="Aptos"/>
                <a:cs typeface="Aptos"/>
              </a:rPr>
              <a:t>Live example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E0B6852-E7AF-4986-9F99-82620FFDDABB}"/>
              </a:ext>
            </a:extLst>
          </p:cNvPr>
          <p:cNvSpPr>
            <a:spLocks noGrp="1"/>
          </p:cNvSpPr>
          <p:nvPr/>
        </p:nvSpPr>
        <p:spPr>
          <a:xfrm>
            <a:off x="6934200" y="3733800"/>
            <a:ext cx="3714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Saravanavelu needs DSA help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C308944-5331-4A2D-93C8-6AE18FBBEE28}"/>
              </a:ext>
            </a:extLst>
          </p:cNvPr>
          <p:cNvSpPr>
            <a:spLocks noGrp="1"/>
          </p:cNvSpPr>
          <p:nvPr/>
        </p:nvSpPr>
        <p:spPr>
          <a:xfrm>
            <a:off x="6934200" y="4171950"/>
            <a:ext cx="3714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200" b="0">
                <a:solidFill>
                  <a:srgbClr val="DDE8D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DE8DE"/>
                </a:solidFill>
                <a:latin typeface="Aptos"/>
                <a:ea typeface="Aptos"/>
                <a:cs typeface="Aptos"/>
              </a:rPr>
              <a:t>Muthu Pandi: same block + DSA Expert + same branch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910C5BE-8EAD-45EE-91D1-B34636FDC3CF}"/>
              </a:ext>
            </a:extLst>
          </p:cNvPr>
          <p:cNvSpPr>
            <a:spLocks noGrp="1"/>
          </p:cNvSpPr>
          <p:nvPr/>
        </p:nvSpPr>
        <p:spPr>
          <a:xfrm>
            <a:off x="6934200" y="4648200"/>
            <a:ext cx="3714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350" b="1">
                <a:solidFill>
                  <a:srgbClr val="F6E7C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E7C4"/>
                </a:solidFill>
                <a:latin typeface="Aptos"/>
                <a:ea typeface="Aptos"/>
                <a:cs typeface="Aptos"/>
              </a:rPr>
              <a:t>40 + 30 + 10 = 80% Match -&gt; sorted to top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88D6BE5-367C-4C12-8424-A372E1B7A655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590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750" b="1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INAI | Smart Study Partner &amp; Roommate Matching System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7E9CAF2A-9A34-54B6-FEE3-F449A2809A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9450" y="202301"/>
            <a:ext cx="1242873" cy="376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296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kicker-4-label">
            <a:extLst>
              <a:ext uri="{FF2B5EF4-FFF2-40B4-BE49-F238E27FC236}">
                <a16:creationId xmlns:a16="http://schemas.microsoft.com/office/drawing/2014/main" id="{D3B36606-3452-4568-8F05-22D6F86863B7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1952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050" b="1" dirty="0">
                <a:solidFill>
                  <a:srgbClr val="0F7A5A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2" name="kicker-4-marker">
            <a:extLst>
              <a:ext uri="{FF2B5EF4-FFF2-40B4-BE49-F238E27FC236}">
                <a16:creationId xmlns:a16="http://schemas.microsoft.com/office/drawing/2014/main" id="{D386BBD1-FA56-42B6-A856-161C6DAE24BD}"/>
              </a:ext>
            </a:extLst>
          </p:cNvPr>
          <p:cNvSpPr>
            <a:spLocks noGrp="1"/>
          </p:cNvSpPr>
          <p:nvPr/>
        </p:nvSpPr>
        <p:spPr>
          <a:xfrm>
            <a:off x="400050" y="390525"/>
            <a:ext cx="76200" cy="76200"/>
          </a:xfrm>
          <a:prstGeom prst="ellipse">
            <a:avLst/>
          </a:prstGeom>
          <a:solidFill>
            <a:srgbClr val="0F7A5A"/>
          </a:solidFill>
          <a:ln w="0">
            <a:solidFill>
              <a:srgbClr val="0F7A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E53F31-D3C8-40BA-8DE5-F4A7F7595BC1}"/>
              </a:ext>
            </a:extLst>
          </p:cNvPr>
          <p:cNvSpPr>
            <a:spLocks noGrp="1"/>
          </p:cNvSpPr>
          <p:nvPr/>
        </p:nvSpPr>
        <p:spPr>
          <a:xfrm>
            <a:off x="400049" y="590550"/>
            <a:ext cx="10872553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dirty="0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The updated version uses a real backend and MongoDB Atlas persistence.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B8FA7B-0BE8-4F8A-96C1-454DD2F59AA2}"/>
              </a:ext>
            </a:extLst>
          </p:cNvPr>
          <p:cNvSpPr>
            <a:spLocks noGrp="1"/>
          </p:cNvSpPr>
          <p:nvPr/>
        </p:nvSpPr>
        <p:spPr>
          <a:xfrm>
            <a:off x="400050" y="1181100"/>
            <a:ext cx="113919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EFE240-CEF1-4172-A346-2E9E6BF7D347}"/>
              </a:ext>
            </a:extLst>
          </p:cNvPr>
          <p:cNvSpPr>
            <a:spLocks noGrp="1"/>
          </p:cNvSpPr>
          <p:nvPr/>
        </p:nvSpPr>
        <p:spPr>
          <a:xfrm>
            <a:off x="10991850" y="63817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69E830C-638C-40AA-88EA-BF40EA5BCA59}"/>
              </a:ext>
            </a:extLst>
          </p:cNvPr>
          <p:cNvSpPr>
            <a:spLocks noGrp="1"/>
          </p:cNvSpPr>
          <p:nvPr/>
        </p:nvSpPr>
        <p:spPr>
          <a:xfrm>
            <a:off x="704850" y="1809750"/>
            <a:ext cx="285750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32364B-7791-4198-8744-CD05FB4A2289}"/>
              </a:ext>
            </a:extLst>
          </p:cNvPr>
          <p:cNvSpPr>
            <a:spLocks noGrp="1"/>
          </p:cNvSpPr>
          <p:nvPr/>
        </p:nvSpPr>
        <p:spPr>
          <a:xfrm>
            <a:off x="876300" y="198120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57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Browser UI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B2A39A-F753-43D7-A4E6-9344A396E0EE}"/>
              </a:ext>
            </a:extLst>
          </p:cNvPr>
          <p:cNvSpPr>
            <a:spLocks noGrp="1"/>
          </p:cNvSpPr>
          <p:nvPr/>
        </p:nvSpPr>
        <p:spPr>
          <a:xfrm>
            <a:off x="876300" y="2305050"/>
            <a:ext cx="2476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HTML5, CSS3, Vanilla JS</a:t>
            </a:r>
          </a:p>
          <a:p>
            <a:pPr algn="l">
              <a:defRPr sz="10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Dashboard, Match, Map, Admin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90A3449-4C9C-4475-9B7F-8E1BFBD64978}"/>
              </a:ext>
            </a:extLst>
          </p:cNvPr>
          <p:cNvSpPr>
            <a:spLocks noGrp="1"/>
          </p:cNvSpPr>
          <p:nvPr/>
        </p:nvSpPr>
        <p:spPr>
          <a:xfrm>
            <a:off x="4476750" y="1809750"/>
            <a:ext cx="285750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0F7A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DCABB0-332A-4135-B3AA-D0F1245742E0}"/>
              </a:ext>
            </a:extLst>
          </p:cNvPr>
          <p:cNvSpPr>
            <a:spLocks noGrp="1"/>
          </p:cNvSpPr>
          <p:nvPr/>
        </p:nvSpPr>
        <p:spPr>
          <a:xfrm>
            <a:off x="4648200" y="198120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575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REST API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81173A-2292-48F7-B6B2-B04E3E832B61}"/>
              </a:ext>
            </a:extLst>
          </p:cNvPr>
          <p:cNvSpPr>
            <a:spLocks noGrp="1"/>
          </p:cNvSpPr>
          <p:nvPr/>
        </p:nvSpPr>
        <p:spPr>
          <a:xfrm>
            <a:off x="4648200" y="2305050"/>
            <a:ext cx="2476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Node.js + Express</a:t>
            </a:r>
          </a:p>
          <a:p>
            <a:pPr algn="l">
              <a:defRPr sz="10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Auth, users, matches, requests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96718BA-7D08-49C7-9205-83B714CC3D8D}"/>
              </a:ext>
            </a:extLst>
          </p:cNvPr>
          <p:cNvSpPr>
            <a:spLocks noGrp="1"/>
          </p:cNvSpPr>
          <p:nvPr/>
        </p:nvSpPr>
        <p:spPr>
          <a:xfrm>
            <a:off x="8248650" y="1809750"/>
            <a:ext cx="285750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B879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AACD0F-1FB3-41C1-80AD-C8387F0197E3}"/>
              </a:ext>
            </a:extLst>
          </p:cNvPr>
          <p:cNvSpPr>
            <a:spLocks noGrp="1"/>
          </p:cNvSpPr>
          <p:nvPr/>
        </p:nvSpPr>
        <p:spPr>
          <a:xfrm>
            <a:off x="8420100" y="198120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575" b="1">
                <a:solidFill>
                  <a:srgbClr val="B879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7916"/>
                </a:solidFill>
                <a:latin typeface="Aptos"/>
                <a:ea typeface="Aptos"/>
                <a:cs typeface="Aptos"/>
              </a:rPr>
              <a:t>MongoDB Atlas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1DD640-6E8B-4649-8D86-715E1EFBA777}"/>
              </a:ext>
            </a:extLst>
          </p:cNvPr>
          <p:cNvSpPr>
            <a:spLocks noGrp="1"/>
          </p:cNvSpPr>
          <p:nvPr/>
        </p:nvSpPr>
        <p:spPr>
          <a:xfrm>
            <a:off x="8420100" y="2305050"/>
            <a:ext cx="2476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Cloud NoSQL database</a:t>
            </a:r>
          </a:p>
          <a:p>
            <a:pPr algn="l">
              <a:defRPr sz="10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Users, requests, sessions, rooms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A1F931-5456-4292-9F41-2C2F7528AD78}"/>
              </a:ext>
            </a:extLst>
          </p:cNvPr>
          <p:cNvSpPr>
            <a:spLocks noGrp="1"/>
          </p:cNvSpPr>
          <p:nvPr/>
        </p:nvSpPr>
        <p:spPr>
          <a:xfrm>
            <a:off x="3562350" y="2400300"/>
            <a:ext cx="762000" cy="28575"/>
          </a:xfrm>
          <a:prstGeom prst="rect">
            <a:avLst/>
          </a:prstGeom>
          <a:solidFill>
            <a:srgbClr val="17201B"/>
          </a:solidFill>
          <a:ln w="0">
            <a:solidFill>
              <a:srgbClr val="17201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09E55DC4-1718-4396-8971-773AD8ECA1D2}"/>
              </a:ext>
            </a:extLst>
          </p:cNvPr>
          <p:cNvSpPr>
            <a:spLocks noGrp="1"/>
          </p:cNvSpPr>
          <p:nvPr/>
        </p:nvSpPr>
        <p:spPr>
          <a:xfrm rot="5400000">
            <a:off x="4248150" y="2343150"/>
            <a:ext cx="133350" cy="133350"/>
          </a:xfrm>
          <a:prstGeom prst="triangle">
            <a:avLst/>
          </a:prstGeom>
          <a:solidFill>
            <a:srgbClr val="17201B"/>
          </a:solidFill>
          <a:ln w="0">
            <a:solidFill>
              <a:srgbClr val="17201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CF97B0-432B-45CE-B356-56EA4B77C119}"/>
              </a:ext>
            </a:extLst>
          </p:cNvPr>
          <p:cNvSpPr>
            <a:spLocks noGrp="1"/>
          </p:cNvSpPr>
          <p:nvPr/>
        </p:nvSpPr>
        <p:spPr>
          <a:xfrm>
            <a:off x="7334250" y="2400300"/>
            <a:ext cx="762000" cy="28575"/>
          </a:xfrm>
          <a:prstGeom prst="rect">
            <a:avLst/>
          </a:prstGeom>
          <a:solidFill>
            <a:srgbClr val="17201B"/>
          </a:solidFill>
          <a:ln w="0">
            <a:solidFill>
              <a:srgbClr val="17201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08E9B28B-9EA1-4A55-9594-A25FFCB3B063}"/>
              </a:ext>
            </a:extLst>
          </p:cNvPr>
          <p:cNvSpPr>
            <a:spLocks noGrp="1"/>
          </p:cNvSpPr>
          <p:nvPr/>
        </p:nvSpPr>
        <p:spPr>
          <a:xfrm rot="5400000">
            <a:off x="8020050" y="2343150"/>
            <a:ext cx="133350" cy="133350"/>
          </a:xfrm>
          <a:prstGeom prst="triangle">
            <a:avLst/>
          </a:prstGeom>
          <a:solidFill>
            <a:srgbClr val="17201B"/>
          </a:solidFill>
          <a:ln w="0">
            <a:solidFill>
              <a:srgbClr val="17201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A376B96-4811-43D2-82A5-86A51E622242}"/>
              </a:ext>
            </a:extLst>
          </p:cNvPr>
          <p:cNvSpPr>
            <a:spLocks noGrp="1"/>
          </p:cNvSpPr>
          <p:nvPr/>
        </p:nvSpPr>
        <p:spPr>
          <a:xfrm>
            <a:off x="914400" y="3543300"/>
            <a:ext cx="990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50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Security and control layer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2EBC5AF-EC87-4EA2-AD78-1A001239C468}"/>
              </a:ext>
            </a:extLst>
          </p:cNvPr>
          <p:cNvSpPr>
            <a:spLocks noGrp="1"/>
          </p:cNvSpPr>
          <p:nvPr/>
        </p:nvSpPr>
        <p:spPr>
          <a:xfrm>
            <a:off x="838200" y="4000500"/>
            <a:ext cx="226695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8F2D1C6-3D83-419D-ACB9-205E668671AC}"/>
              </a:ext>
            </a:extLst>
          </p:cNvPr>
          <p:cNvSpPr>
            <a:spLocks noGrp="1"/>
          </p:cNvSpPr>
          <p:nvPr/>
        </p:nvSpPr>
        <p:spPr>
          <a:xfrm>
            <a:off x="971550" y="411480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150" b="1" dirty="0">
                <a:solidFill>
                  <a:srgbClr val="0F7A5A"/>
                </a:solidFill>
                <a:latin typeface="Aptos"/>
                <a:ea typeface="Aptos"/>
                <a:cs typeface="Aptos"/>
              </a:rPr>
              <a:t>PBKDF2 password hashing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03B5C19-89C7-4D31-B7C3-64C2DC86FBA5}"/>
              </a:ext>
            </a:extLst>
          </p:cNvPr>
          <p:cNvSpPr>
            <a:spLocks noGrp="1"/>
          </p:cNvSpPr>
          <p:nvPr/>
        </p:nvSpPr>
        <p:spPr>
          <a:xfrm>
            <a:off x="971550" y="4400550"/>
            <a:ext cx="1962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0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120,000 iterations; timing-safe verification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A8FD3CA-8A2C-4FF4-80EE-F609B5D5A00F}"/>
              </a:ext>
            </a:extLst>
          </p:cNvPr>
          <p:cNvSpPr>
            <a:spLocks noGrp="1"/>
          </p:cNvSpPr>
          <p:nvPr/>
        </p:nvSpPr>
        <p:spPr>
          <a:xfrm>
            <a:off x="3486150" y="4000500"/>
            <a:ext cx="226695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F80FB3C-CB06-44C6-8D65-B3E3B225B1C3}"/>
              </a:ext>
            </a:extLst>
          </p:cNvPr>
          <p:cNvSpPr>
            <a:spLocks noGrp="1"/>
          </p:cNvSpPr>
          <p:nvPr/>
        </p:nvSpPr>
        <p:spPr>
          <a:xfrm>
            <a:off x="3619500" y="411480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150" b="1" dirty="0">
                <a:solidFill>
                  <a:srgbClr val="0B7285"/>
                </a:solidFill>
                <a:latin typeface="Aptos"/>
                <a:ea typeface="Aptos"/>
                <a:cs typeface="Aptos"/>
              </a:rPr>
              <a:t>HMAC/JWT-style tokens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E6B0DAA-E61A-4D53-95BC-C6BB8984A281}"/>
              </a:ext>
            </a:extLst>
          </p:cNvPr>
          <p:cNvSpPr>
            <a:spLocks noGrp="1"/>
          </p:cNvSpPr>
          <p:nvPr/>
        </p:nvSpPr>
        <p:spPr>
          <a:xfrm>
            <a:off x="3619500" y="4400550"/>
            <a:ext cx="1962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0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User and admin routes separated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AAE01D1-D465-4121-AD56-CBC6FCB0EEB6}"/>
              </a:ext>
            </a:extLst>
          </p:cNvPr>
          <p:cNvSpPr>
            <a:spLocks noGrp="1"/>
          </p:cNvSpPr>
          <p:nvPr/>
        </p:nvSpPr>
        <p:spPr>
          <a:xfrm>
            <a:off x="6134100" y="4000500"/>
            <a:ext cx="226695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8892800-A16C-41A1-ABD8-E36EF15F7389}"/>
              </a:ext>
            </a:extLst>
          </p:cNvPr>
          <p:cNvSpPr>
            <a:spLocks noGrp="1"/>
          </p:cNvSpPr>
          <p:nvPr/>
        </p:nvSpPr>
        <p:spPr>
          <a:xfrm>
            <a:off x="6267450" y="411480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1">
                <a:solidFill>
                  <a:srgbClr val="5B3A70"/>
                </a:solidFill>
                <a:latin typeface="Aptos"/>
                <a:ea typeface="Aptos"/>
                <a:cs typeface="Aptos"/>
              </a:defRPr>
            </a:pPr>
            <a:r>
              <a:rPr sz="1125" b="1" dirty="0">
                <a:solidFill>
                  <a:srgbClr val="5B3A70"/>
                </a:solidFill>
                <a:latin typeface="Aptos"/>
                <a:ea typeface="Aptos"/>
                <a:cs typeface="Aptos"/>
              </a:rPr>
              <a:t>Privacy </a:t>
            </a:r>
            <a:r>
              <a:rPr sz="1150" b="1" dirty="0">
                <a:solidFill>
                  <a:srgbClr val="5B3A70"/>
                </a:solidFill>
                <a:latin typeface="Aptos"/>
                <a:ea typeface="Aptos"/>
                <a:cs typeface="Aptos"/>
              </a:rPr>
              <a:t>middleware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E040F11-7D8B-44CE-83B9-91533FB9DE3F}"/>
              </a:ext>
            </a:extLst>
          </p:cNvPr>
          <p:cNvSpPr>
            <a:spLocks noGrp="1"/>
          </p:cNvSpPr>
          <p:nvPr/>
        </p:nvSpPr>
        <p:spPr>
          <a:xfrm>
            <a:off x="6267450" y="4400550"/>
            <a:ext cx="1962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0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Room/name hidden until mutual connection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4923D98-5384-4ABD-BAFD-DFD5F579ED37}"/>
              </a:ext>
            </a:extLst>
          </p:cNvPr>
          <p:cNvSpPr>
            <a:spLocks noGrp="1"/>
          </p:cNvSpPr>
          <p:nvPr/>
        </p:nvSpPr>
        <p:spPr>
          <a:xfrm>
            <a:off x="8782050" y="4000500"/>
            <a:ext cx="226695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D2D7499-075A-46B2-BD77-0405AE588DD2}"/>
              </a:ext>
            </a:extLst>
          </p:cNvPr>
          <p:cNvSpPr>
            <a:spLocks noGrp="1"/>
          </p:cNvSpPr>
          <p:nvPr/>
        </p:nvSpPr>
        <p:spPr>
          <a:xfrm>
            <a:off x="8915400" y="411480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1">
                <a:solidFill>
                  <a:srgbClr val="C4493D"/>
                </a:solidFill>
                <a:latin typeface="Aptos"/>
                <a:ea typeface="Aptos"/>
                <a:cs typeface="Aptos"/>
              </a:defRPr>
            </a:pPr>
            <a:r>
              <a:rPr sz="1150" b="1" dirty="0">
                <a:solidFill>
                  <a:srgbClr val="C4493D"/>
                </a:solidFill>
                <a:latin typeface="Aptos"/>
                <a:ea typeface="Aptos"/>
                <a:cs typeface="Aptos"/>
              </a:rPr>
              <a:t>Rate limiting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DA87240-C940-4DC4-858B-20F06F6800A6}"/>
              </a:ext>
            </a:extLst>
          </p:cNvPr>
          <p:cNvSpPr>
            <a:spLocks noGrp="1"/>
          </p:cNvSpPr>
          <p:nvPr/>
        </p:nvSpPr>
        <p:spPr>
          <a:xfrm>
            <a:off x="8915400" y="4400550"/>
            <a:ext cx="1962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0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Brute-force protection for login/admin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6275983-EB05-47AE-AB11-BA0B673F0F74}"/>
              </a:ext>
            </a:extLst>
          </p:cNvPr>
          <p:cNvSpPr>
            <a:spLocks noGrp="1"/>
          </p:cNvSpPr>
          <p:nvPr/>
        </p:nvSpPr>
        <p:spPr>
          <a:xfrm>
            <a:off x="914400" y="5334000"/>
            <a:ext cx="9715500" cy="323850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650" b="1">
                <a:solidFill>
                  <a:srgbClr val="10201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019"/>
                </a:solidFill>
                <a:latin typeface="Aptos"/>
                <a:ea typeface="Aptos"/>
                <a:cs typeface="Aptos"/>
              </a:rPr>
              <a:t>Tech stack: Node.js, Express.js, MongoDB Atlas, Mongoose, Vanilla HTML/CSS/JavaScript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FC2646F-C77C-43FF-B810-C475D980F55E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590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750" b="1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INAI | Smart Study Partner &amp; Roommate Matching System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89CB629-8901-0F12-8773-4A1BE98251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9450" y="202301"/>
            <a:ext cx="1242873" cy="376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17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kicker-5-label">
            <a:extLst>
              <a:ext uri="{FF2B5EF4-FFF2-40B4-BE49-F238E27FC236}">
                <a16:creationId xmlns:a16="http://schemas.microsoft.com/office/drawing/2014/main" id="{259C98AB-B6B5-4783-8A97-E51FA28C1A4A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1952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050" b="1" dirty="0">
                <a:solidFill>
                  <a:srgbClr val="0F7A5A"/>
                </a:solidFill>
                <a:latin typeface="Aptos"/>
                <a:ea typeface="Aptos"/>
                <a:cs typeface="Aptos"/>
              </a:rPr>
              <a:t>FEATURES</a:t>
            </a:r>
          </a:p>
        </p:txBody>
      </p:sp>
      <p:sp>
        <p:nvSpPr>
          <p:cNvPr id="2" name="kicker-5-marker">
            <a:extLst>
              <a:ext uri="{FF2B5EF4-FFF2-40B4-BE49-F238E27FC236}">
                <a16:creationId xmlns:a16="http://schemas.microsoft.com/office/drawing/2014/main" id="{DF8F2D02-D2D2-4607-B4EE-B57D82E1FFC8}"/>
              </a:ext>
            </a:extLst>
          </p:cNvPr>
          <p:cNvSpPr>
            <a:spLocks noGrp="1"/>
          </p:cNvSpPr>
          <p:nvPr/>
        </p:nvSpPr>
        <p:spPr>
          <a:xfrm>
            <a:off x="400050" y="390525"/>
            <a:ext cx="76200" cy="76200"/>
          </a:xfrm>
          <a:prstGeom prst="ellipse">
            <a:avLst/>
          </a:prstGeom>
          <a:solidFill>
            <a:srgbClr val="0F7A5A"/>
          </a:solidFill>
          <a:ln w="0">
            <a:solidFill>
              <a:srgbClr val="0F7A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9C1816-3D9D-42C9-AD26-442FE867E56E}"/>
              </a:ext>
            </a:extLst>
          </p:cNvPr>
          <p:cNvSpPr>
            <a:spLocks noGrp="1"/>
          </p:cNvSpPr>
          <p:nvPr/>
        </p:nvSpPr>
        <p:spPr>
          <a:xfrm>
            <a:off x="400049" y="590550"/>
            <a:ext cx="11117861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dirty="0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The product now covers discovery, coordination, privacy, productivity, and admin control.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941D20-0960-4669-9A21-82078D8FD1FB}"/>
              </a:ext>
            </a:extLst>
          </p:cNvPr>
          <p:cNvSpPr>
            <a:spLocks noGrp="1"/>
          </p:cNvSpPr>
          <p:nvPr/>
        </p:nvSpPr>
        <p:spPr>
          <a:xfrm>
            <a:off x="400050" y="1347787"/>
            <a:ext cx="113919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CD7258-C7C7-414F-8F29-6E530D4286AD}"/>
              </a:ext>
            </a:extLst>
          </p:cNvPr>
          <p:cNvSpPr>
            <a:spLocks noGrp="1"/>
          </p:cNvSpPr>
          <p:nvPr/>
        </p:nvSpPr>
        <p:spPr>
          <a:xfrm>
            <a:off x="10991850" y="63817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707A81-5EC8-470A-BF53-5EA8892ACFAA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4286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65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Matching &amp; safety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5EB7EE-D9DF-4799-929C-83965F980046}"/>
              </a:ext>
            </a:extLst>
          </p:cNvPr>
          <p:cNvSpPr>
            <a:spLocks noGrp="1"/>
          </p:cNvSpPr>
          <p:nvPr/>
        </p:nvSpPr>
        <p:spPr>
          <a:xfrm>
            <a:off x="6705600" y="1428750"/>
            <a:ext cx="4286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65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Study workflow &amp; operations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A07BAAC-D922-4372-9515-7A4340658618}"/>
              </a:ext>
            </a:extLst>
          </p:cNvPr>
          <p:cNvSpPr>
            <a:spLocks noGrp="1"/>
          </p:cNvSpPr>
          <p:nvPr/>
        </p:nvSpPr>
        <p:spPr>
          <a:xfrm>
            <a:off x="704850" y="1962150"/>
            <a:ext cx="44767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FD5E08-D6EA-4C66-BCFD-78AF2696F7C9}"/>
              </a:ext>
            </a:extLst>
          </p:cNvPr>
          <p:cNvSpPr>
            <a:spLocks noGrp="1"/>
          </p:cNvSpPr>
          <p:nvPr/>
        </p:nvSpPr>
        <p:spPr>
          <a:xfrm>
            <a:off x="857250" y="2038350"/>
            <a:ext cx="15716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Quick Match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DFDE12-2562-4E18-93D5-35B81574F2F3}"/>
              </a:ext>
            </a:extLst>
          </p:cNvPr>
          <p:cNvSpPr>
            <a:spLocks noGrp="1"/>
          </p:cNvSpPr>
          <p:nvPr/>
        </p:nvSpPr>
        <p:spPr>
          <a:xfrm>
            <a:off x="2495550" y="2038350"/>
            <a:ext cx="26860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38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3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Nearby and Free Now students first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A91CD8E-C102-4E6A-9FEA-C0BFF29F1DD7}"/>
              </a:ext>
            </a:extLst>
          </p:cNvPr>
          <p:cNvSpPr>
            <a:spLocks noGrp="1"/>
          </p:cNvSpPr>
          <p:nvPr/>
        </p:nvSpPr>
        <p:spPr>
          <a:xfrm>
            <a:off x="704850" y="2647950"/>
            <a:ext cx="4476750" cy="495300"/>
          </a:xfrm>
          <a:prstGeom prst="roundRect">
            <a:avLst>
              <a:gd name="adj" fmla="val 15385"/>
            </a:avLst>
          </a:prstGeom>
          <a:solidFill>
            <a:srgbClr val="EFE8DA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6D10AA-45B4-4F1A-B022-AA353AC704E1}"/>
              </a:ext>
            </a:extLst>
          </p:cNvPr>
          <p:cNvSpPr>
            <a:spLocks noGrp="1"/>
          </p:cNvSpPr>
          <p:nvPr/>
        </p:nvSpPr>
        <p:spPr>
          <a:xfrm>
            <a:off x="857250" y="2724150"/>
            <a:ext cx="15716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Preference Match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7954AF-DF38-4C8F-8F14-6C3FEA4F26A6}"/>
              </a:ext>
            </a:extLst>
          </p:cNvPr>
          <p:cNvSpPr>
            <a:spLocks noGrp="1"/>
          </p:cNvSpPr>
          <p:nvPr/>
        </p:nvSpPr>
        <p:spPr>
          <a:xfrm>
            <a:off x="2495550" y="2676525"/>
            <a:ext cx="28384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38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3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Subject, score, branch, year, state filters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8973BE5-DDA3-46A3-8B73-8C1B5199B762}"/>
              </a:ext>
            </a:extLst>
          </p:cNvPr>
          <p:cNvSpPr>
            <a:spLocks noGrp="1"/>
          </p:cNvSpPr>
          <p:nvPr/>
        </p:nvSpPr>
        <p:spPr>
          <a:xfrm>
            <a:off x="704850" y="3333750"/>
            <a:ext cx="44767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8627E7-17B0-408F-AEA4-D5ACE50D0FCD}"/>
              </a:ext>
            </a:extLst>
          </p:cNvPr>
          <p:cNvSpPr>
            <a:spLocks noGrp="1"/>
          </p:cNvSpPr>
          <p:nvPr/>
        </p:nvSpPr>
        <p:spPr>
          <a:xfrm>
            <a:off x="857250" y="3409950"/>
            <a:ext cx="15716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Roommate Match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5CDDFC-872E-44B6-9AEA-B8541942CBED}"/>
              </a:ext>
            </a:extLst>
          </p:cNvPr>
          <p:cNvSpPr>
            <a:spLocks noGrp="1"/>
          </p:cNvSpPr>
          <p:nvPr/>
        </p:nvSpPr>
        <p:spPr>
          <a:xfrm>
            <a:off x="2495550" y="3362325"/>
            <a:ext cx="2686050" cy="53339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38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3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Lifestyle compatibility: sleep, study style, cleanliness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8E104C3-A386-4F2F-B46B-F2E818A7DE13}"/>
              </a:ext>
            </a:extLst>
          </p:cNvPr>
          <p:cNvSpPr>
            <a:spLocks noGrp="1"/>
          </p:cNvSpPr>
          <p:nvPr/>
        </p:nvSpPr>
        <p:spPr>
          <a:xfrm>
            <a:off x="704850" y="4019550"/>
            <a:ext cx="4476750" cy="495300"/>
          </a:xfrm>
          <a:prstGeom prst="roundRect">
            <a:avLst>
              <a:gd name="adj" fmla="val 15385"/>
            </a:avLst>
          </a:prstGeom>
          <a:solidFill>
            <a:srgbClr val="EFE8DA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4489DB5-9DD6-4DFF-BECA-A18A8704151A}"/>
              </a:ext>
            </a:extLst>
          </p:cNvPr>
          <p:cNvSpPr>
            <a:spLocks noGrp="1"/>
          </p:cNvSpPr>
          <p:nvPr/>
        </p:nvSpPr>
        <p:spPr>
          <a:xfrm>
            <a:off x="857250" y="4095750"/>
            <a:ext cx="15716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Hostel Map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413BEE-83B4-4A6F-987C-AF7B2A5C7400}"/>
              </a:ext>
            </a:extLst>
          </p:cNvPr>
          <p:cNvSpPr>
            <a:spLocks noGrp="1"/>
          </p:cNvSpPr>
          <p:nvPr/>
        </p:nvSpPr>
        <p:spPr>
          <a:xfrm>
            <a:off x="2495549" y="4019550"/>
            <a:ext cx="261937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38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3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Room-level visual map scoped to own hostel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837CC17-8092-43FD-B146-9290F7106F9D}"/>
              </a:ext>
            </a:extLst>
          </p:cNvPr>
          <p:cNvSpPr>
            <a:spLocks noGrp="1"/>
          </p:cNvSpPr>
          <p:nvPr/>
        </p:nvSpPr>
        <p:spPr>
          <a:xfrm>
            <a:off x="704850" y="4705350"/>
            <a:ext cx="44767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2689145-8740-4C8E-97F4-B9D10D53D26C}"/>
              </a:ext>
            </a:extLst>
          </p:cNvPr>
          <p:cNvSpPr>
            <a:spLocks noGrp="1"/>
          </p:cNvSpPr>
          <p:nvPr/>
        </p:nvSpPr>
        <p:spPr>
          <a:xfrm>
            <a:off x="857250" y="4781550"/>
            <a:ext cx="15716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Privacy Model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6DBD9A6-6AE2-403B-8D66-F567B0DA8437}"/>
              </a:ext>
            </a:extLst>
          </p:cNvPr>
          <p:cNvSpPr>
            <a:spLocks noGrp="1"/>
          </p:cNvSpPr>
          <p:nvPr/>
        </p:nvSpPr>
        <p:spPr>
          <a:xfrm>
            <a:off x="2495549" y="4705350"/>
            <a:ext cx="2676525" cy="55721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38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3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Anonymous until request is accepted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8B9D69D-24B5-4EC5-83CB-7A8F02CF41A3}"/>
              </a:ext>
            </a:extLst>
          </p:cNvPr>
          <p:cNvSpPr>
            <a:spLocks noGrp="1"/>
          </p:cNvSpPr>
          <p:nvPr/>
        </p:nvSpPr>
        <p:spPr>
          <a:xfrm>
            <a:off x="6705599" y="1962150"/>
            <a:ext cx="4610099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24357D3-66BF-45F8-92F2-F7EE458F6AA2}"/>
              </a:ext>
            </a:extLst>
          </p:cNvPr>
          <p:cNvSpPr>
            <a:spLocks noGrp="1"/>
          </p:cNvSpPr>
          <p:nvPr/>
        </p:nvSpPr>
        <p:spPr>
          <a:xfrm>
            <a:off x="6858000" y="2038350"/>
            <a:ext cx="15716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Study Sessions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16B25F7-9D18-45B4-99FE-77A4F47C8B68}"/>
              </a:ext>
            </a:extLst>
          </p:cNvPr>
          <p:cNvSpPr>
            <a:spLocks noGrp="1"/>
          </p:cNvSpPr>
          <p:nvPr/>
        </p:nvSpPr>
        <p:spPr>
          <a:xfrm>
            <a:off x="8496300" y="1971675"/>
            <a:ext cx="2838450" cy="619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38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3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Propose, confirm, complete, and rate sessions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2355122-3E39-4AED-A807-6BDB86205D7D}"/>
              </a:ext>
            </a:extLst>
          </p:cNvPr>
          <p:cNvSpPr>
            <a:spLocks noGrp="1"/>
          </p:cNvSpPr>
          <p:nvPr/>
        </p:nvSpPr>
        <p:spPr>
          <a:xfrm>
            <a:off x="6705600" y="2647950"/>
            <a:ext cx="4610098" cy="495300"/>
          </a:xfrm>
          <a:prstGeom prst="roundRect">
            <a:avLst>
              <a:gd name="adj" fmla="val 15385"/>
            </a:avLst>
          </a:prstGeom>
          <a:solidFill>
            <a:srgbClr val="EFE8DA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6F31F45-AEB4-4FB7-9539-7F3B4153A19E}"/>
              </a:ext>
            </a:extLst>
          </p:cNvPr>
          <p:cNvSpPr>
            <a:spLocks noGrp="1"/>
          </p:cNvSpPr>
          <p:nvPr/>
        </p:nvSpPr>
        <p:spPr>
          <a:xfrm>
            <a:off x="6858000" y="2676525"/>
            <a:ext cx="15716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300" b="1" dirty="0">
                <a:solidFill>
                  <a:srgbClr val="0B7285"/>
                </a:solidFill>
                <a:latin typeface="Aptos"/>
                <a:ea typeface="Aptos"/>
                <a:cs typeface="Aptos"/>
              </a:rPr>
              <a:t>Group Study Rooms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1759040-8A44-49E7-8FF0-FF0D4AF7B935}"/>
              </a:ext>
            </a:extLst>
          </p:cNvPr>
          <p:cNvSpPr>
            <a:spLocks noGrp="1"/>
          </p:cNvSpPr>
          <p:nvPr/>
        </p:nvSpPr>
        <p:spPr>
          <a:xfrm>
            <a:off x="8496300" y="2676525"/>
            <a:ext cx="268605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38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3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Create/join room-based group learning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573F74A-BE86-483B-9B9C-F6330AB21A9F}"/>
              </a:ext>
            </a:extLst>
          </p:cNvPr>
          <p:cNvSpPr>
            <a:spLocks noGrp="1"/>
          </p:cNvSpPr>
          <p:nvPr/>
        </p:nvSpPr>
        <p:spPr>
          <a:xfrm>
            <a:off x="6705600" y="3333750"/>
            <a:ext cx="4610098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A520867-E94F-4F6B-BA75-128CE6B32744}"/>
              </a:ext>
            </a:extLst>
          </p:cNvPr>
          <p:cNvSpPr>
            <a:spLocks noGrp="1"/>
          </p:cNvSpPr>
          <p:nvPr/>
        </p:nvSpPr>
        <p:spPr>
          <a:xfrm>
            <a:off x="6858000" y="3409950"/>
            <a:ext cx="15716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Chat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E1B287D-49F7-43EF-BF1A-C27B8A44F8F0}"/>
              </a:ext>
            </a:extLst>
          </p:cNvPr>
          <p:cNvSpPr>
            <a:spLocks noGrp="1"/>
          </p:cNvSpPr>
          <p:nvPr/>
        </p:nvSpPr>
        <p:spPr>
          <a:xfrm>
            <a:off x="8496300" y="3352800"/>
            <a:ext cx="2381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38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3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Connected students can message safely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F96F4F0-7197-4A4E-8495-C1BDDD476287}"/>
              </a:ext>
            </a:extLst>
          </p:cNvPr>
          <p:cNvSpPr>
            <a:spLocks noGrp="1"/>
          </p:cNvSpPr>
          <p:nvPr/>
        </p:nvSpPr>
        <p:spPr>
          <a:xfrm>
            <a:off x="6705599" y="4019550"/>
            <a:ext cx="4600573" cy="495300"/>
          </a:xfrm>
          <a:prstGeom prst="roundRect">
            <a:avLst>
              <a:gd name="adj" fmla="val 15385"/>
            </a:avLst>
          </a:prstGeom>
          <a:solidFill>
            <a:srgbClr val="EFE8DA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543CAC7-C5D6-4F30-B538-63FB2CBFED0D}"/>
              </a:ext>
            </a:extLst>
          </p:cNvPr>
          <p:cNvSpPr>
            <a:spLocks noGrp="1"/>
          </p:cNvSpPr>
          <p:nvPr/>
        </p:nvSpPr>
        <p:spPr>
          <a:xfrm>
            <a:off x="6858000" y="4095750"/>
            <a:ext cx="15716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Admin Panel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6D9E8DC-7389-46ED-8488-9F5BF80FB8DC}"/>
              </a:ext>
            </a:extLst>
          </p:cNvPr>
          <p:cNvSpPr>
            <a:spLocks noGrp="1"/>
          </p:cNvSpPr>
          <p:nvPr/>
        </p:nvSpPr>
        <p:spPr>
          <a:xfrm>
            <a:off x="8429625" y="4045783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38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3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User management, stats, moderation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14FA253E-AD49-451C-9E69-7C05AF24C9D0}"/>
              </a:ext>
            </a:extLst>
          </p:cNvPr>
          <p:cNvSpPr>
            <a:spLocks noGrp="1"/>
          </p:cNvSpPr>
          <p:nvPr/>
        </p:nvSpPr>
        <p:spPr>
          <a:xfrm>
            <a:off x="6705600" y="4705350"/>
            <a:ext cx="4600572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98B2DFF-DCA1-49B2-919D-0CE967F4FB50}"/>
              </a:ext>
            </a:extLst>
          </p:cNvPr>
          <p:cNvSpPr>
            <a:spLocks noGrp="1"/>
          </p:cNvSpPr>
          <p:nvPr/>
        </p:nvSpPr>
        <p:spPr>
          <a:xfrm>
            <a:off x="6858000" y="4781550"/>
            <a:ext cx="15716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Pomodoro Timer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AF10123-0E33-467A-BA14-581BB6F66E53}"/>
              </a:ext>
            </a:extLst>
          </p:cNvPr>
          <p:cNvSpPr>
            <a:spLocks noGrp="1"/>
          </p:cNvSpPr>
          <p:nvPr/>
        </p:nvSpPr>
        <p:spPr>
          <a:xfrm>
            <a:off x="8496300" y="4742045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38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3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25-minute focus timer plus brain-break game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164BA0D-02C0-4794-BE1D-D64BC66CF149}"/>
              </a:ext>
            </a:extLst>
          </p:cNvPr>
          <p:cNvSpPr>
            <a:spLocks noGrp="1"/>
          </p:cNvSpPr>
          <p:nvPr/>
        </p:nvSpPr>
        <p:spPr>
          <a:xfrm>
            <a:off x="5905500" y="1790700"/>
            <a:ext cx="9525" cy="3714750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C792C21-FD3C-43E2-A929-171381EFA3D8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590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750" b="1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INAI | Smart Study Partner &amp; Roommate Matching System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82DDC1D6-E8EE-B384-6AEF-7C625C1E4D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9450" y="202301"/>
            <a:ext cx="1242873" cy="376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693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kicker-6-label">
            <a:extLst>
              <a:ext uri="{FF2B5EF4-FFF2-40B4-BE49-F238E27FC236}">
                <a16:creationId xmlns:a16="http://schemas.microsoft.com/office/drawing/2014/main" id="{95155237-F3D8-4F92-98B4-B3ED29897CC6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1952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050" b="1" dirty="0">
                <a:solidFill>
                  <a:srgbClr val="0F7A5A"/>
                </a:solidFill>
                <a:latin typeface="Aptos"/>
                <a:ea typeface="Aptos"/>
                <a:cs typeface="Aptos"/>
              </a:rPr>
              <a:t>TESTING</a:t>
            </a:r>
          </a:p>
        </p:txBody>
      </p:sp>
      <p:sp>
        <p:nvSpPr>
          <p:cNvPr id="2" name="kicker-6-marker">
            <a:extLst>
              <a:ext uri="{FF2B5EF4-FFF2-40B4-BE49-F238E27FC236}">
                <a16:creationId xmlns:a16="http://schemas.microsoft.com/office/drawing/2014/main" id="{70649691-FAC4-451C-A129-5333F10C4BF1}"/>
              </a:ext>
            </a:extLst>
          </p:cNvPr>
          <p:cNvSpPr>
            <a:spLocks noGrp="1"/>
          </p:cNvSpPr>
          <p:nvPr/>
        </p:nvSpPr>
        <p:spPr>
          <a:xfrm>
            <a:off x="400050" y="390525"/>
            <a:ext cx="76200" cy="76200"/>
          </a:xfrm>
          <a:prstGeom prst="ellipse">
            <a:avLst/>
          </a:prstGeom>
          <a:solidFill>
            <a:srgbClr val="0F7A5A"/>
          </a:solidFill>
          <a:ln w="0">
            <a:solidFill>
              <a:srgbClr val="0F7A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02C398-6405-4D01-9AC5-6515C6529C4A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13919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dirty="0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The system passed validation across matching, privacy, security, and performance.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A93BEB-8149-4CA7-AD59-04C8125B865E}"/>
              </a:ext>
            </a:extLst>
          </p:cNvPr>
          <p:cNvSpPr>
            <a:spLocks noGrp="1"/>
          </p:cNvSpPr>
          <p:nvPr/>
        </p:nvSpPr>
        <p:spPr>
          <a:xfrm>
            <a:off x="400050" y="1181100"/>
            <a:ext cx="113919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72D44D-A6B7-4762-802C-659911498039}"/>
              </a:ext>
            </a:extLst>
          </p:cNvPr>
          <p:cNvSpPr>
            <a:spLocks noGrp="1"/>
          </p:cNvSpPr>
          <p:nvPr/>
        </p:nvSpPr>
        <p:spPr>
          <a:xfrm>
            <a:off x="10991850" y="63817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9E51CDC-5A11-4F99-80F0-7B76D2ABAA04}"/>
              </a:ext>
            </a:extLst>
          </p:cNvPr>
          <p:cNvSpPr>
            <a:spLocks noGrp="1"/>
          </p:cNvSpPr>
          <p:nvPr/>
        </p:nvSpPr>
        <p:spPr>
          <a:xfrm>
            <a:off x="514350" y="1504950"/>
            <a:ext cx="1866900" cy="1123950"/>
          </a:xfrm>
          <a:prstGeom prst="roundRect">
            <a:avLst>
              <a:gd name="adj" fmla="val 6780"/>
            </a:avLst>
          </a:prstGeom>
          <a:solidFill>
            <a:srgbClr val="102019"/>
          </a:solidFill>
          <a:ln w="9525">
            <a:solidFill>
              <a:srgbClr val="10201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3B7D9C-CFFC-4167-923A-F5CA242E9BE8}"/>
              </a:ext>
            </a:extLst>
          </p:cNvPr>
          <p:cNvSpPr>
            <a:spLocks noGrp="1"/>
          </p:cNvSpPr>
          <p:nvPr/>
        </p:nvSpPr>
        <p:spPr>
          <a:xfrm>
            <a:off x="628650" y="1657350"/>
            <a:ext cx="1619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2325" b="1">
                <a:solidFill>
                  <a:srgbClr val="9FE3C8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9FE3C8"/>
                </a:solidFill>
                <a:latin typeface="Aptos"/>
                <a:ea typeface="Aptos"/>
                <a:cs typeface="Aptos"/>
              </a:rPr>
              <a:t>46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91428F-F1AE-4085-81A6-5CA9FD782FE5}"/>
              </a:ext>
            </a:extLst>
          </p:cNvPr>
          <p:cNvSpPr>
            <a:spLocks noGrp="1"/>
          </p:cNvSpPr>
          <p:nvPr/>
        </p:nvSpPr>
        <p:spPr>
          <a:xfrm>
            <a:off x="628650" y="20764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test cases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B116F9-FC3A-43A9-B4FA-9EBDFD2A996F}"/>
              </a:ext>
            </a:extLst>
          </p:cNvPr>
          <p:cNvSpPr>
            <a:spLocks noGrp="1"/>
          </p:cNvSpPr>
          <p:nvPr/>
        </p:nvSpPr>
        <p:spPr>
          <a:xfrm>
            <a:off x="628650" y="23050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825" b="0">
                <a:solidFill>
                  <a:srgbClr val="DDE8DE"/>
                </a:solidFill>
                <a:latin typeface="Aptos"/>
                <a:ea typeface="Aptos"/>
                <a:cs typeface="Aptos"/>
              </a:defRPr>
            </a:pPr>
            <a:r>
              <a:rPr sz="1050" b="0" dirty="0">
                <a:solidFill>
                  <a:srgbClr val="DDE8DE"/>
                </a:solidFill>
                <a:latin typeface="Aptos"/>
                <a:ea typeface="Aptos"/>
                <a:cs typeface="Aptos"/>
              </a:rPr>
              <a:t>All passed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7F9FB3B-07D4-477C-8262-6E3CA95A9B30}"/>
              </a:ext>
            </a:extLst>
          </p:cNvPr>
          <p:cNvSpPr>
            <a:spLocks noGrp="1"/>
          </p:cNvSpPr>
          <p:nvPr/>
        </p:nvSpPr>
        <p:spPr>
          <a:xfrm>
            <a:off x="2762250" y="1504950"/>
            <a:ext cx="1866900" cy="1123950"/>
          </a:xfrm>
          <a:prstGeom prst="roundRect">
            <a:avLst>
              <a:gd name="adj" fmla="val 6780"/>
            </a:avLst>
          </a:prstGeom>
          <a:solidFill>
            <a:srgbClr val="102019"/>
          </a:solidFill>
          <a:ln w="9525">
            <a:solidFill>
              <a:srgbClr val="10201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2B929C-77CC-47C4-992C-3144CBF2D842}"/>
              </a:ext>
            </a:extLst>
          </p:cNvPr>
          <p:cNvSpPr>
            <a:spLocks noGrp="1"/>
          </p:cNvSpPr>
          <p:nvPr/>
        </p:nvSpPr>
        <p:spPr>
          <a:xfrm>
            <a:off x="2876550" y="1657350"/>
            <a:ext cx="1619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2325" b="1">
                <a:solidFill>
                  <a:srgbClr val="9FE3C8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9FE3C8"/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BF3B29-3E5E-482D-B16D-52AA5110F141}"/>
              </a:ext>
            </a:extLst>
          </p:cNvPr>
          <p:cNvSpPr>
            <a:spLocks noGrp="1"/>
          </p:cNvSpPr>
          <p:nvPr/>
        </p:nvSpPr>
        <p:spPr>
          <a:xfrm>
            <a:off x="2876550" y="20764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gender safety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4498023-E46E-47DF-A0BC-A8954FA257D6}"/>
              </a:ext>
            </a:extLst>
          </p:cNvPr>
          <p:cNvSpPr>
            <a:spLocks noGrp="1"/>
          </p:cNvSpPr>
          <p:nvPr/>
        </p:nvSpPr>
        <p:spPr>
          <a:xfrm>
            <a:off x="2762250" y="2305050"/>
            <a:ext cx="1866900" cy="485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825" b="0">
                <a:solidFill>
                  <a:srgbClr val="DDE8DE"/>
                </a:solidFill>
                <a:latin typeface="Aptos"/>
                <a:ea typeface="Aptos"/>
                <a:cs typeface="Aptos"/>
              </a:defRPr>
            </a:pPr>
            <a:r>
              <a:rPr sz="1050" b="0" dirty="0">
                <a:solidFill>
                  <a:srgbClr val="DDE8DE"/>
                </a:solidFill>
                <a:latin typeface="Aptos"/>
                <a:ea typeface="Aptos"/>
                <a:cs typeface="Aptos"/>
              </a:rPr>
              <a:t>Same-hostel/gender scope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419FEDF-648A-43B0-BEC7-373254EF4C41}"/>
              </a:ext>
            </a:extLst>
          </p:cNvPr>
          <p:cNvSpPr>
            <a:spLocks noGrp="1"/>
          </p:cNvSpPr>
          <p:nvPr/>
        </p:nvSpPr>
        <p:spPr>
          <a:xfrm>
            <a:off x="5010150" y="1504950"/>
            <a:ext cx="1866900" cy="1123950"/>
          </a:xfrm>
          <a:prstGeom prst="roundRect">
            <a:avLst>
              <a:gd name="adj" fmla="val 6780"/>
            </a:avLst>
          </a:prstGeom>
          <a:solidFill>
            <a:srgbClr val="102019"/>
          </a:solidFill>
          <a:ln w="9525">
            <a:solidFill>
              <a:srgbClr val="10201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F69562-D9E9-427B-979D-114FB31EF68C}"/>
              </a:ext>
            </a:extLst>
          </p:cNvPr>
          <p:cNvSpPr>
            <a:spLocks noGrp="1"/>
          </p:cNvSpPr>
          <p:nvPr/>
        </p:nvSpPr>
        <p:spPr>
          <a:xfrm>
            <a:off x="5124450" y="1657350"/>
            <a:ext cx="1619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2325" b="1">
                <a:solidFill>
                  <a:srgbClr val="9FE3C8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9FE3C8"/>
                </a:solidFill>
                <a:latin typeface="Aptos"/>
                <a:ea typeface="Aptos"/>
                <a:cs typeface="Aptos"/>
              </a:rPr>
              <a:t>&lt;1.5s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A50B07-3A01-4C9D-B06C-8F526B1AE6DB}"/>
              </a:ext>
            </a:extLst>
          </p:cNvPr>
          <p:cNvSpPr>
            <a:spLocks noGrp="1"/>
          </p:cNvSpPr>
          <p:nvPr/>
        </p:nvSpPr>
        <p:spPr>
          <a:xfrm>
            <a:off x="5124450" y="20764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page load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B849155-7B10-4F55-A0B8-89473676139A}"/>
              </a:ext>
            </a:extLst>
          </p:cNvPr>
          <p:cNvSpPr>
            <a:spLocks noGrp="1"/>
          </p:cNvSpPr>
          <p:nvPr/>
        </p:nvSpPr>
        <p:spPr>
          <a:xfrm>
            <a:off x="5124450" y="23050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825" b="0">
                <a:solidFill>
                  <a:srgbClr val="DDE8DE"/>
                </a:solidFill>
                <a:latin typeface="Aptos"/>
                <a:ea typeface="Aptos"/>
                <a:cs typeface="Aptos"/>
              </a:defRPr>
            </a:pPr>
            <a:r>
              <a:rPr sz="1050" b="0" dirty="0">
                <a:solidFill>
                  <a:srgbClr val="DDE8DE"/>
                </a:solidFill>
                <a:latin typeface="Aptos"/>
                <a:ea typeface="Aptos"/>
                <a:cs typeface="Aptos"/>
              </a:rPr>
              <a:t>Local network pages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F44FA55-69E5-4DE7-A8D4-5E397D0EDA5E}"/>
              </a:ext>
            </a:extLst>
          </p:cNvPr>
          <p:cNvSpPr>
            <a:spLocks noGrp="1"/>
          </p:cNvSpPr>
          <p:nvPr/>
        </p:nvSpPr>
        <p:spPr>
          <a:xfrm>
            <a:off x="7258050" y="1504950"/>
            <a:ext cx="1866900" cy="1123950"/>
          </a:xfrm>
          <a:prstGeom prst="roundRect">
            <a:avLst>
              <a:gd name="adj" fmla="val 6780"/>
            </a:avLst>
          </a:prstGeom>
          <a:solidFill>
            <a:srgbClr val="102019"/>
          </a:solidFill>
          <a:ln w="9525">
            <a:solidFill>
              <a:srgbClr val="10201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5765D3-2AB1-4CB0-A194-7C5BF010FFEA}"/>
              </a:ext>
            </a:extLst>
          </p:cNvPr>
          <p:cNvSpPr>
            <a:spLocks noGrp="1"/>
          </p:cNvSpPr>
          <p:nvPr/>
        </p:nvSpPr>
        <p:spPr>
          <a:xfrm>
            <a:off x="7372350" y="1657350"/>
            <a:ext cx="1619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2325" b="1">
                <a:solidFill>
                  <a:srgbClr val="9FE3C8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9FE3C8"/>
                </a:solidFill>
                <a:latin typeface="Aptos"/>
                <a:ea typeface="Aptos"/>
                <a:cs typeface="Aptos"/>
              </a:rPr>
              <a:t>&lt;200ms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2755AE3-FB5E-4C30-B5F0-37C48F549E35}"/>
              </a:ext>
            </a:extLst>
          </p:cNvPr>
          <p:cNvSpPr>
            <a:spLocks noGrp="1"/>
          </p:cNvSpPr>
          <p:nvPr/>
        </p:nvSpPr>
        <p:spPr>
          <a:xfrm>
            <a:off x="7372350" y="20764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API average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8495D49-A252-47CA-817D-FAE314068614}"/>
              </a:ext>
            </a:extLst>
          </p:cNvPr>
          <p:cNvSpPr>
            <a:spLocks noGrp="1"/>
          </p:cNvSpPr>
          <p:nvPr/>
        </p:nvSpPr>
        <p:spPr>
          <a:xfrm>
            <a:off x="7372350" y="23050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825" b="0">
                <a:solidFill>
                  <a:srgbClr val="DDE8DE"/>
                </a:solidFill>
                <a:latin typeface="Aptos"/>
                <a:ea typeface="Aptos"/>
                <a:cs typeface="Aptos"/>
              </a:defRPr>
            </a:pPr>
            <a:r>
              <a:rPr sz="1050" b="0" dirty="0">
                <a:solidFill>
                  <a:srgbClr val="DDE8DE"/>
                </a:solidFill>
                <a:latin typeface="Aptos"/>
                <a:ea typeface="Aptos"/>
                <a:cs typeface="Aptos"/>
              </a:rPr>
              <a:t>Backend response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A95796C-2CA8-45CE-BB79-F6F6FDDF0610}"/>
              </a:ext>
            </a:extLst>
          </p:cNvPr>
          <p:cNvSpPr>
            <a:spLocks noGrp="1"/>
          </p:cNvSpPr>
          <p:nvPr/>
        </p:nvSpPr>
        <p:spPr>
          <a:xfrm>
            <a:off x="9505950" y="1504950"/>
            <a:ext cx="1866900" cy="1123950"/>
          </a:xfrm>
          <a:prstGeom prst="roundRect">
            <a:avLst>
              <a:gd name="adj" fmla="val 6780"/>
            </a:avLst>
          </a:prstGeom>
          <a:solidFill>
            <a:srgbClr val="102019"/>
          </a:solidFill>
          <a:ln w="9525">
            <a:solidFill>
              <a:srgbClr val="10201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9882D1-5FFF-4F43-A111-0439C2861A4A}"/>
              </a:ext>
            </a:extLst>
          </p:cNvPr>
          <p:cNvSpPr>
            <a:spLocks noGrp="1"/>
          </p:cNvSpPr>
          <p:nvPr/>
        </p:nvSpPr>
        <p:spPr>
          <a:xfrm>
            <a:off x="9620250" y="1657350"/>
            <a:ext cx="1619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2325" b="1">
                <a:solidFill>
                  <a:srgbClr val="F6E7C4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6E7C4"/>
                </a:solidFill>
                <a:latin typeface="Aptos"/>
                <a:ea typeface="Aptos"/>
                <a:cs typeface="Aptos"/>
              </a:rPr>
              <a:t>PBKDF2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B44BBD0-89E9-40D0-9665-4C9E434E78B7}"/>
              </a:ext>
            </a:extLst>
          </p:cNvPr>
          <p:cNvSpPr>
            <a:spLocks noGrp="1"/>
          </p:cNvSpPr>
          <p:nvPr/>
        </p:nvSpPr>
        <p:spPr>
          <a:xfrm>
            <a:off x="9620250" y="20764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security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0E5E06C-A6CD-471A-909C-276C180A74B0}"/>
              </a:ext>
            </a:extLst>
          </p:cNvPr>
          <p:cNvSpPr>
            <a:spLocks noGrp="1"/>
          </p:cNvSpPr>
          <p:nvPr/>
        </p:nvSpPr>
        <p:spPr>
          <a:xfrm>
            <a:off x="9620250" y="23050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825" b="0">
                <a:solidFill>
                  <a:srgbClr val="DDE8DE"/>
                </a:solidFill>
                <a:latin typeface="Aptos"/>
                <a:ea typeface="Aptos"/>
                <a:cs typeface="Aptos"/>
              </a:defRPr>
            </a:pPr>
            <a:r>
              <a:rPr sz="1050" b="0" dirty="0">
                <a:solidFill>
                  <a:srgbClr val="DDE8DE"/>
                </a:solidFill>
                <a:latin typeface="Aptos"/>
                <a:ea typeface="Aptos"/>
                <a:cs typeface="Aptos"/>
              </a:rPr>
              <a:t>120,000 iterations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CA9E287-2CBC-42BE-83B5-FF47D0B70B9B}"/>
              </a:ext>
            </a:extLst>
          </p:cNvPr>
          <p:cNvSpPr>
            <a:spLocks noGrp="1"/>
          </p:cNvSpPr>
          <p:nvPr/>
        </p:nvSpPr>
        <p:spPr>
          <a:xfrm>
            <a:off x="933450" y="3238500"/>
            <a:ext cx="180975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Matching logic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4E5424E-F414-4621-B262-B6274B0E5614}"/>
              </a:ext>
            </a:extLst>
          </p:cNvPr>
          <p:cNvSpPr>
            <a:spLocks noGrp="1"/>
          </p:cNvSpPr>
          <p:nvPr/>
        </p:nvSpPr>
        <p:spPr>
          <a:xfrm>
            <a:off x="2952750" y="3238500"/>
            <a:ext cx="581025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3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Quick, Preference, Roommate ranking; gender defaults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70167C3-7ECA-41C4-9230-CCC69BB387D5}"/>
              </a:ext>
            </a:extLst>
          </p:cNvPr>
          <p:cNvSpPr>
            <a:spLocks noGrp="1"/>
          </p:cNvSpPr>
          <p:nvPr/>
        </p:nvSpPr>
        <p:spPr>
          <a:xfrm>
            <a:off x="8953500" y="3238500"/>
            <a:ext cx="11430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05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0649AA0-0C51-4983-89AF-6EA9815FC397}"/>
              </a:ext>
            </a:extLst>
          </p:cNvPr>
          <p:cNvSpPr>
            <a:spLocks noGrp="1"/>
          </p:cNvSpPr>
          <p:nvPr/>
        </p:nvSpPr>
        <p:spPr>
          <a:xfrm>
            <a:off x="933450" y="3657600"/>
            <a:ext cx="1809750" cy="266700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Privacy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AD17D02-A841-4B50-BDD7-1F58DDF61AB1}"/>
              </a:ext>
            </a:extLst>
          </p:cNvPr>
          <p:cNvSpPr>
            <a:spLocks noGrp="1"/>
          </p:cNvSpPr>
          <p:nvPr/>
        </p:nvSpPr>
        <p:spPr>
          <a:xfrm>
            <a:off x="2952750" y="3657600"/>
            <a:ext cx="5810250" cy="266700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3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Names/rooms hidden until mutual accept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A9C1913-EA03-4E3B-B60E-F8278907F6FE}"/>
              </a:ext>
            </a:extLst>
          </p:cNvPr>
          <p:cNvSpPr>
            <a:spLocks noGrp="1"/>
          </p:cNvSpPr>
          <p:nvPr/>
        </p:nvSpPr>
        <p:spPr>
          <a:xfrm>
            <a:off x="8953500" y="3657600"/>
            <a:ext cx="1143000" cy="266700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05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0825544-B134-49F0-859C-EE9820345940}"/>
              </a:ext>
            </a:extLst>
          </p:cNvPr>
          <p:cNvSpPr>
            <a:spLocks noGrp="1"/>
          </p:cNvSpPr>
          <p:nvPr/>
        </p:nvSpPr>
        <p:spPr>
          <a:xfrm>
            <a:off x="933450" y="4076700"/>
            <a:ext cx="180975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Security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AD773A0-5EC6-4E4F-BE38-227A9DDDFFC9}"/>
              </a:ext>
            </a:extLst>
          </p:cNvPr>
          <p:cNvSpPr>
            <a:spLocks noGrp="1"/>
          </p:cNvSpPr>
          <p:nvPr/>
        </p:nvSpPr>
        <p:spPr>
          <a:xfrm>
            <a:off x="2952750" y="4076700"/>
            <a:ext cx="581025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3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PBKDF2, HMAC tokens, admin route isolation, rate limit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1311DAF-2AEF-49B1-8EF4-0777ACEE3C97}"/>
              </a:ext>
            </a:extLst>
          </p:cNvPr>
          <p:cNvSpPr>
            <a:spLocks noGrp="1"/>
          </p:cNvSpPr>
          <p:nvPr/>
        </p:nvSpPr>
        <p:spPr>
          <a:xfrm>
            <a:off x="8953500" y="4076700"/>
            <a:ext cx="11430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05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3DEDFC5-4F9C-4318-91F8-B2F3E288A70E}"/>
              </a:ext>
            </a:extLst>
          </p:cNvPr>
          <p:cNvSpPr>
            <a:spLocks noGrp="1"/>
          </p:cNvSpPr>
          <p:nvPr/>
        </p:nvSpPr>
        <p:spPr>
          <a:xfrm>
            <a:off x="933450" y="4495800"/>
            <a:ext cx="1809750" cy="266700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Integration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D892A0B-2B98-4C77-97B1-DCB2E9532B3C}"/>
              </a:ext>
            </a:extLst>
          </p:cNvPr>
          <p:cNvSpPr>
            <a:spLocks noGrp="1"/>
          </p:cNvSpPr>
          <p:nvPr/>
        </p:nvSpPr>
        <p:spPr>
          <a:xfrm>
            <a:off x="2952750" y="4495800"/>
            <a:ext cx="5810250" cy="266700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3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Users, requests, sessions, chat, rooms, admin delete cascade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FF56408-10E7-4FF7-A279-C34CD7EC8E83}"/>
              </a:ext>
            </a:extLst>
          </p:cNvPr>
          <p:cNvSpPr>
            <a:spLocks noGrp="1"/>
          </p:cNvSpPr>
          <p:nvPr/>
        </p:nvSpPr>
        <p:spPr>
          <a:xfrm>
            <a:off x="8953500" y="4495800"/>
            <a:ext cx="1143000" cy="266700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05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59137F8-C945-4CEA-B6B4-BB61E722CE09}"/>
              </a:ext>
            </a:extLst>
          </p:cNvPr>
          <p:cNvSpPr>
            <a:spLocks noGrp="1"/>
          </p:cNvSpPr>
          <p:nvPr/>
        </p:nvSpPr>
        <p:spPr>
          <a:xfrm>
            <a:off x="933450" y="4914900"/>
            <a:ext cx="180975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Bugs fixed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271D3A1-649D-4B66-A71F-168FEA86B8E1}"/>
              </a:ext>
            </a:extLst>
          </p:cNvPr>
          <p:cNvSpPr>
            <a:spLocks noGrp="1"/>
          </p:cNvSpPr>
          <p:nvPr/>
        </p:nvSpPr>
        <p:spPr>
          <a:xfrm>
            <a:off x="2952750" y="4914900"/>
            <a:ext cx="581025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3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6 issues including request stub, room stripping, map scope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430E956-2FF1-4BDA-8080-D5D9689FDC00}"/>
              </a:ext>
            </a:extLst>
          </p:cNvPr>
          <p:cNvSpPr>
            <a:spLocks noGrp="1"/>
          </p:cNvSpPr>
          <p:nvPr/>
        </p:nvSpPr>
        <p:spPr>
          <a:xfrm>
            <a:off x="8953500" y="4914900"/>
            <a:ext cx="11430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05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Closed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5A1A2E1-04E7-4ADA-A865-1CB292E5071E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590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750" b="1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Testing evidence from INAI lab record and implemented modules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B2DBE177-7C04-68AF-DFE4-621A21FEA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9450" y="202301"/>
            <a:ext cx="1242873" cy="376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268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kicker-7-label">
            <a:extLst>
              <a:ext uri="{FF2B5EF4-FFF2-40B4-BE49-F238E27FC236}">
                <a16:creationId xmlns:a16="http://schemas.microsoft.com/office/drawing/2014/main" id="{6FFE45AB-C27F-4884-A8AC-9F1FF7260406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1952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050" b="1" dirty="0">
                <a:solidFill>
                  <a:srgbClr val="0F7A5A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2" name="kicker-7-marker">
            <a:extLst>
              <a:ext uri="{FF2B5EF4-FFF2-40B4-BE49-F238E27FC236}">
                <a16:creationId xmlns:a16="http://schemas.microsoft.com/office/drawing/2014/main" id="{13CD5604-D1A2-4D2A-B0BE-761C39A9FA0D}"/>
              </a:ext>
            </a:extLst>
          </p:cNvPr>
          <p:cNvSpPr>
            <a:spLocks noGrp="1"/>
          </p:cNvSpPr>
          <p:nvPr/>
        </p:nvSpPr>
        <p:spPr>
          <a:xfrm>
            <a:off x="400050" y="390525"/>
            <a:ext cx="76200" cy="76200"/>
          </a:xfrm>
          <a:prstGeom prst="ellipse">
            <a:avLst/>
          </a:prstGeom>
          <a:solidFill>
            <a:srgbClr val="0F7A5A"/>
          </a:solidFill>
          <a:ln w="0">
            <a:solidFill>
              <a:srgbClr val="0F7A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8B8C12-9FF8-483D-AE40-769AD8A0C997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0841324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dirty="0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INAI is no longer just a prototype; it is a tested campus-ready web system.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0293C2-A285-410A-8066-A6FE9FD31E58}"/>
              </a:ext>
            </a:extLst>
          </p:cNvPr>
          <p:cNvSpPr>
            <a:spLocks noGrp="1"/>
          </p:cNvSpPr>
          <p:nvPr/>
        </p:nvSpPr>
        <p:spPr>
          <a:xfrm>
            <a:off x="400050" y="1181100"/>
            <a:ext cx="113919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AAB023-86D8-4117-A8D5-0B387A64CF17}"/>
              </a:ext>
            </a:extLst>
          </p:cNvPr>
          <p:cNvSpPr>
            <a:spLocks noGrp="1"/>
          </p:cNvSpPr>
          <p:nvPr/>
        </p:nvSpPr>
        <p:spPr>
          <a:xfrm>
            <a:off x="10991850" y="63817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2D4E21-D8DD-4D7C-947D-99F2128827FC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575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575" b="1" dirty="0">
                <a:solidFill>
                  <a:srgbClr val="0F7A5A"/>
                </a:solidFill>
                <a:latin typeface="Aptos"/>
                <a:ea typeface="Aptos"/>
                <a:cs typeface="Aptos"/>
              </a:rPr>
              <a:t>What we built vs future version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290CBF-EE84-4965-A0F1-094C1765717C}"/>
              </a:ext>
            </a:extLst>
          </p:cNvPr>
          <p:cNvSpPr>
            <a:spLocks noGrp="1"/>
          </p:cNvSpPr>
          <p:nvPr/>
        </p:nvSpPr>
        <p:spPr>
          <a:xfrm>
            <a:off x="723900" y="1809750"/>
            <a:ext cx="2476500" cy="266700"/>
          </a:xfrm>
          <a:prstGeom prst="rect">
            <a:avLst/>
          </a:prstGeom>
          <a:solidFill>
            <a:srgbClr val="0F7A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Built now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E3B437-6EBB-4CD7-8519-711FDFF54386}"/>
              </a:ext>
            </a:extLst>
          </p:cNvPr>
          <p:cNvSpPr>
            <a:spLocks noGrp="1"/>
          </p:cNvSpPr>
          <p:nvPr/>
        </p:nvSpPr>
        <p:spPr>
          <a:xfrm>
            <a:off x="3333750" y="1809750"/>
            <a:ext cx="2667000" cy="266700"/>
          </a:xfrm>
          <a:prstGeom prst="rect">
            <a:avLst/>
          </a:prstGeom>
          <a:solidFill>
            <a:srgbClr val="0B72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Future version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F6F8CA-4BD3-45A8-BC9B-45DDC9CDC931}"/>
              </a:ext>
            </a:extLst>
          </p:cNvPr>
          <p:cNvSpPr>
            <a:spLocks noGrp="1"/>
          </p:cNvSpPr>
          <p:nvPr/>
        </p:nvSpPr>
        <p:spPr>
          <a:xfrm>
            <a:off x="723900" y="2228850"/>
            <a:ext cx="24765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150" b="1" dirty="0">
                <a:solidFill>
                  <a:srgbClr val="17201B"/>
                </a:solidFill>
                <a:latin typeface="Aptos"/>
                <a:ea typeface="Aptos"/>
                <a:cs typeface="Aptos"/>
              </a:rPr>
              <a:t>MongoDB-backed student profiles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8AD5F8-FA92-4B3C-BAD9-A74CDAD65F6A}"/>
              </a:ext>
            </a:extLst>
          </p:cNvPr>
          <p:cNvSpPr>
            <a:spLocks noGrp="1"/>
          </p:cNvSpPr>
          <p:nvPr/>
        </p:nvSpPr>
        <p:spPr>
          <a:xfrm>
            <a:off x="3333750" y="2228850"/>
            <a:ext cx="26670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15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College email OTP verification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104EA4-FE03-4E65-AC63-93F96A422871}"/>
              </a:ext>
            </a:extLst>
          </p:cNvPr>
          <p:cNvSpPr>
            <a:spLocks noGrp="1"/>
          </p:cNvSpPr>
          <p:nvPr/>
        </p:nvSpPr>
        <p:spPr>
          <a:xfrm>
            <a:off x="723900" y="2647950"/>
            <a:ext cx="2476500" cy="266700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150" b="1" dirty="0">
                <a:solidFill>
                  <a:srgbClr val="17201B"/>
                </a:solidFill>
                <a:latin typeface="Aptos"/>
                <a:ea typeface="Aptos"/>
                <a:cs typeface="Aptos"/>
              </a:rPr>
              <a:t>Gender-safe matching and hostel map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35F178-A6CA-414E-8337-5A2BF278F077}"/>
              </a:ext>
            </a:extLst>
          </p:cNvPr>
          <p:cNvSpPr>
            <a:spLocks noGrp="1"/>
          </p:cNvSpPr>
          <p:nvPr/>
        </p:nvSpPr>
        <p:spPr>
          <a:xfrm>
            <a:off x="3333750" y="2647950"/>
            <a:ext cx="2667000" cy="266700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15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Authority-approved hostel integration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CFCD99-4866-4F0A-BA38-DCD459EEDD98}"/>
              </a:ext>
            </a:extLst>
          </p:cNvPr>
          <p:cNvSpPr>
            <a:spLocks noGrp="1"/>
          </p:cNvSpPr>
          <p:nvPr/>
        </p:nvSpPr>
        <p:spPr>
          <a:xfrm>
            <a:off x="723900" y="3067050"/>
            <a:ext cx="24765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15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Room reveal only after mutual accept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30C3983-C42B-4769-9972-53DE924129A1}"/>
              </a:ext>
            </a:extLst>
          </p:cNvPr>
          <p:cNvSpPr>
            <a:spLocks noGrp="1"/>
          </p:cNvSpPr>
          <p:nvPr/>
        </p:nvSpPr>
        <p:spPr>
          <a:xfrm>
            <a:off x="3333750" y="3067050"/>
            <a:ext cx="26670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15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Reputation and helper leaderboard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D9114-5BA1-48E3-8A3F-D262F873A0F4}"/>
              </a:ext>
            </a:extLst>
          </p:cNvPr>
          <p:cNvSpPr>
            <a:spLocks noGrp="1"/>
          </p:cNvSpPr>
          <p:nvPr/>
        </p:nvSpPr>
        <p:spPr>
          <a:xfrm>
            <a:off x="723900" y="3486150"/>
            <a:ext cx="2476500" cy="266700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15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Polling chat and notifications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EDCDF4-FF6C-44F2-820B-76FA81E0A88C}"/>
              </a:ext>
            </a:extLst>
          </p:cNvPr>
          <p:cNvSpPr>
            <a:spLocks noGrp="1"/>
          </p:cNvSpPr>
          <p:nvPr/>
        </p:nvSpPr>
        <p:spPr>
          <a:xfrm>
            <a:off x="3333750" y="3486150"/>
            <a:ext cx="2667000" cy="266700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15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WebSocket real-time updates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6560ED-3EB4-41EA-AB4A-6BFDF4991ADD}"/>
              </a:ext>
            </a:extLst>
          </p:cNvPr>
          <p:cNvSpPr>
            <a:spLocks noGrp="1"/>
          </p:cNvSpPr>
          <p:nvPr/>
        </p:nvSpPr>
        <p:spPr>
          <a:xfrm>
            <a:off x="723900" y="3905250"/>
            <a:ext cx="24765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15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Browser web app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4B6221E-5AD8-41E3-9A8B-FB6975737FF0}"/>
              </a:ext>
            </a:extLst>
          </p:cNvPr>
          <p:cNvSpPr>
            <a:spLocks noGrp="1"/>
          </p:cNvSpPr>
          <p:nvPr/>
        </p:nvSpPr>
        <p:spPr>
          <a:xfrm>
            <a:off x="3333750" y="3905250"/>
            <a:ext cx="26670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15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PWA with push notifications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6C739B-7A31-4528-AD72-6DC4D3A25DD0}"/>
              </a:ext>
            </a:extLst>
          </p:cNvPr>
          <p:cNvSpPr>
            <a:spLocks noGrp="1"/>
          </p:cNvSpPr>
          <p:nvPr/>
        </p:nvSpPr>
        <p:spPr>
          <a:xfrm>
            <a:off x="6858000" y="142875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57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Future scope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883C937-73A8-411A-9E44-222C386B2DA0}"/>
              </a:ext>
            </a:extLst>
          </p:cNvPr>
          <p:cNvSpPr>
            <a:spLocks noGrp="1"/>
          </p:cNvSpPr>
          <p:nvPr/>
        </p:nvSpPr>
        <p:spPr>
          <a:xfrm>
            <a:off x="6858000" y="1809750"/>
            <a:ext cx="39052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339F78E-7B8B-498C-9914-1CF5B48C8805}"/>
              </a:ext>
            </a:extLst>
          </p:cNvPr>
          <p:cNvSpPr>
            <a:spLocks noGrp="1"/>
          </p:cNvSpPr>
          <p:nvPr/>
        </p:nvSpPr>
        <p:spPr>
          <a:xfrm>
            <a:off x="7010400" y="1876425"/>
            <a:ext cx="1200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WebSocket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073A2E4-3B9D-4650-8542-FF91BB882BCE}"/>
              </a:ext>
            </a:extLst>
          </p:cNvPr>
          <p:cNvSpPr>
            <a:spLocks noGrp="1"/>
          </p:cNvSpPr>
          <p:nvPr/>
        </p:nvSpPr>
        <p:spPr>
          <a:xfrm>
            <a:off x="8210550" y="1876424"/>
            <a:ext cx="2647950" cy="54292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38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Real-time chat and live map status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5269F61-2555-4BA6-A882-F23D8916A6E0}"/>
              </a:ext>
            </a:extLst>
          </p:cNvPr>
          <p:cNvSpPr>
            <a:spLocks noGrp="1"/>
          </p:cNvSpPr>
          <p:nvPr/>
        </p:nvSpPr>
        <p:spPr>
          <a:xfrm>
            <a:off x="6858000" y="2381250"/>
            <a:ext cx="39052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D05F599-56E6-4039-83A0-CF9C049AA031}"/>
              </a:ext>
            </a:extLst>
          </p:cNvPr>
          <p:cNvSpPr>
            <a:spLocks noGrp="1"/>
          </p:cNvSpPr>
          <p:nvPr/>
        </p:nvSpPr>
        <p:spPr>
          <a:xfrm>
            <a:off x="7010400" y="2447925"/>
            <a:ext cx="1200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1">
                <a:solidFill>
                  <a:srgbClr val="B8791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87916"/>
                </a:solidFill>
                <a:latin typeface="Aptos"/>
                <a:ea typeface="Aptos"/>
                <a:cs typeface="Aptos"/>
              </a:rPr>
              <a:t>PWA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546EF0D-64CB-406A-A504-6E453442C55D}"/>
              </a:ext>
            </a:extLst>
          </p:cNvPr>
          <p:cNvSpPr>
            <a:spLocks noGrp="1"/>
          </p:cNvSpPr>
          <p:nvPr/>
        </p:nvSpPr>
        <p:spPr>
          <a:xfrm>
            <a:off x="8210550" y="2389968"/>
            <a:ext cx="25527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38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Mobile install, offline shell, push alerts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AE08811-A227-4A60-9E15-EEA67DDA1CFD}"/>
              </a:ext>
            </a:extLst>
          </p:cNvPr>
          <p:cNvSpPr>
            <a:spLocks noGrp="1"/>
          </p:cNvSpPr>
          <p:nvPr/>
        </p:nvSpPr>
        <p:spPr>
          <a:xfrm>
            <a:off x="6858000" y="2952750"/>
            <a:ext cx="39052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E127025-3FF6-4F66-A25E-D44AC051923A}"/>
              </a:ext>
            </a:extLst>
          </p:cNvPr>
          <p:cNvSpPr>
            <a:spLocks noGrp="1"/>
          </p:cNvSpPr>
          <p:nvPr/>
        </p:nvSpPr>
        <p:spPr>
          <a:xfrm>
            <a:off x="7010400" y="3019425"/>
            <a:ext cx="1200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1">
                <a:solidFill>
                  <a:srgbClr val="5B3A7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B3A70"/>
                </a:solidFill>
                <a:latin typeface="Aptos"/>
                <a:ea typeface="Aptos"/>
                <a:cs typeface="Aptos"/>
              </a:rPr>
              <a:t>AI Matching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E0DDAC8-3B39-4E8B-9DC6-8C5F6320633B}"/>
              </a:ext>
            </a:extLst>
          </p:cNvPr>
          <p:cNvSpPr>
            <a:spLocks noGrp="1"/>
          </p:cNvSpPr>
          <p:nvPr/>
        </p:nvSpPr>
        <p:spPr>
          <a:xfrm>
            <a:off x="8210550" y="2943225"/>
            <a:ext cx="278130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38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Learn from ratings and session outcomes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CDA0B2F-81FD-486D-969A-8360B1B024C9}"/>
              </a:ext>
            </a:extLst>
          </p:cNvPr>
          <p:cNvSpPr>
            <a:spLocks noGrp="1"/>
          </p:cNvSpPr>
          <p:nvPr/>
        </p:nvSpPr>
        <p:spPr>
          <a:xfrm>
            <a:off x="6858000" y="3524250"/>
            <a:ext cx="39052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4CB5B87-913E-4EA5-A09C-B1DE83DD8637}"/>
              </a:ext>
            </a:extLst>
          </p:cNvPr>
          <p:cNvSpPr>
            <a:spLocks noGrp="1"/>
          </p:cNvSpPr>
          <p:nvPr/>
        </p:nvSpPr>
        <p:spPr>
          <a:xfrm>
            <a:off x="7010400" y="3533775"/>
            <a:ext cx="1200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1">
                <a:solidFill>
                  <a:srgbClr val="C4493D"/>
                </a:solidFill>
                <a:latin typeface="Aptos"/>
                <a:ea typeface="Aptos"/>
                <a:cs typeface="Aptos"/>
              </a:defRPr>
            </a:pPr>
            <a:r>
              <a:rPr sz="1050" b="1" dirty="0">
                <a:solidFill>
                  <a:srgbClr val="C4493D"/>
                </a:solidFill>
                <a:latin typeface="Aptos"/>
                <a:ea typeface="Aptos"/>
                <a:cs typeface="Aptos"/>
              </a:rPr>
              <a:t>Authority Integration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B499FCC-9DB8-4D59-9EE3-98938EBAA711}"/>
              </a:ext>
            </a:extLst>
          </p:cNvPr>
          <p:cNvSpPr>
            <a:spLocks noGrp="1"/>
          </p:cNvSpPr>
          <p:nvPr/>
        </p:nvSpPr>
        <p:spPr>
          <a:xfrm>
            <a:off x="8210550" y="3526672"/>
            <a:ext cx="228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38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Verified hostel and admin workflows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1A306AF-08AE-4F3D-AE5F-5070E9BFB9D5}"/>
              </a:ext>
            </a:extLst>
          </p:cNvPr>
          <p:cNvSpPr>
            <a:spLocks noGrp="1"/>
          </p:cNvSpPr>
          <p:nvPr/>
        </p:nvSpPr>
        <p:spPr>
          <a:xfrm>
            <a:off x="6858000" y="4095750"/>
            <a:ext cx="39052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70F2C18-A837-4B20-B6E8-7ADB00A4A906}"/>
              </a:ext>
            </a:extLst>
          </p:cNvPr>
          <p:cNvSpPr>
            <a:spLocks noGrp="1"/>
          </p:cNvSpPr>
          <p:nvPr/>
        </p:nvSpPr>
        <p:spPr>
          <a:xfrm>
            <a:off x="7010400" y="4162425"/>
            <a:ext cx="1200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Multi-language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E6816EB-BA5C-4C57-9AB3-623A037DEE51}"/>
              </a:ext>
            </a:extLst>
          </p:cNvPr>
          <p:cNvSpPr>
            <a:spLocks noGrp="1"/>
          </p:cNvSpPr>
          <p:nvPr/>
        </p:nvSpPr>
        <p:spPr>
          <a:xfrm>
            <a:off x="8210550" y="4068951"/>
            <a:ext cx="228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38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Tamil/English support for broader access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3AEF3C6-A377-4F77-941D-F294B3AC2481}"/>
              </a:ext>
            </a:extLst>
          </p:cNvPr>
          <p:cNvSpPr>
            <a:spLocks noGrp="1"/>
          </p:cNvSpPr>
          <p:nvPr/>
        </p:nvSpPr>
        <p:spPr>
          <a:xfrm>
            <a:off x="1066800" y="5619750"/>
            <a:ext cx="9144000" cy="495300"/>
          </a:xfrm>
          <a:prstGeom prst="rect">
            <a:avLst/>
          </a:prstGeom>
          <a:solidFill>
            <a:srgbClr val="102019"/>
          </a:solidFill>
          <a:ln w="0">
            <a:solidFill>
              <a:srgbClr val="10201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C9DDE13-14AF-4D0E-938C-5C6E1F60CFCB}"/>
              </a:ext>
            </a:extLst>
          </p:cNvPr>
          <p:cNvSpPr>
            <a:spLocks noGrp="1"/>
          </p:cNvSpPr>
          <p:nvPr/>
        </p:nvSpPr>
        <p:spPr>
          <a:xfrm>
            <a:off x="1214437" y="5657850"/>
            <a:ext cx="88106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800" b="1">
                <a:solidFill>
                  <a:srgbClr val="F6E7C4"/>
                </a:solidFill>
                <a:latin typeface="Aptos"/>
                <a:ea typeface="Aptos"/>
                <a:cs typeface="Aptos"/>
              </a:defRPr>
            </a:pPr>
            <a:r>
              <a:rPr sz="1800" b="1" dirty="0">
                <a:solidFill>
                  <a:srgbClr val="F6E7C4"/>
                </a:solidFill>
                <a:latin typeface="Aptos"/>
                <a:ea typeface="Aptos"/>
                <a:cs typeface="Aptos"/>
              </a:rPr>
              <a:t>"Other apps connect friends. INAI connects knowledge."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5D2629E-039C-4EAA-95D7-1DDE02E4ACA3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590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750" b="1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INAI | Smart Study Partner &amp; Roommate Matching System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01E9C327-904E-75C3-8350-75DEEC9325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9450" y="202301"/>
            <a:ext cx="1242873" cy="376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34750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806</Words>
  <Application>Microsoft Office PowerPoint</Application>
  <DocSecurity>0</DocSecurity>
  <PresentationFormat>Widescreen</PresentationFormat>
  <Paragraphs>187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MappillaiMeeran A</cp:lastModifiedBy>
  <cp:revision>1</cp:revision>
  <dcterms:created xsi:type="dcterms:W3CDTF">2026-06-08T14:34:08Z</dcterms:created>
  <dcterms:modified xsi:type="dcterms:W3CDTF">2026-06-08T17:22:44Z</dcterms:modified>
</cp:coreProperties>
</file>